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D1D1F"/>
                </a:solidFill>
                <a:latin typeface="Microsoft YaHei"/>
              </a:defRPr>
            </a:pPr>
            <a:r>
              <a:rPr sz="1200" b="1" i="0" u="none" strike="noStrike">
                <a:solidFill>
                  <a:srgbClr val="1D1D1F"/>
                </a:solidFill>
                <a:latin typeface="Microsoft YaHei"/>
              </a:rPr>
              <a:t>Router LoRA 对关键指标的提升（%）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B7C1C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Tool-name</c:v>
                  </c:pt>
                  <c:pt idx="1">
                    <c:v>Arg exact</c:v>
                  </c:pt>
                  <c:pt idx="2">
                    <c:v>Full-chain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51.19</c:v>
                </c:pt>
                <c:pt idx="1">
                  <c:v>19.57</c:v>
                </c:pt>
                <c:pt idx="2">
                  <c:v>20.59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Router LoRA</c:v>
                </c:pt>
              </c:strCache>
            </c:strRef>
          </c:tx>
          <c:spPr>
            <a:solidFill>
              <a:srgbClr val="456A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Tool-name</c:v>
                  </c:pt>
                  <c:pt idx="1">
                    <c:v>Arg exact</c:v>
                  </c:pt>
                  <c:pt idx="2">
                    <c:v>Full-chain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89.13</c:v>
                </c:pt>
                <c:pt idx="2">
                  <c:v>85.29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4E8EC"/>
            </a:solidFill>
            <a:prstDash val="solid"/>
            <a:round/>
          </a:ln>
        </c:spPr>
        <c:txPr>
          <a:bodyPr/>
          <a:lstStyle/>
          <a:p>
            <a:pPr>
              <a:defRPr sz="92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4E8EC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E4E8EC"/>
            </a:solidFill>
            <a:prstDash val="solid"/>
            <a:round/>
          </a:ln>
        </c:spPr>
        <c:txPr>
          <a:bodyPr/>
          <a:lstStyle/>
          <a:p>
            <a:pPr>
              <a:defRPr sz="82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2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D1D1F"/>
                </a:solidFill>
                <a:latin typeface="Microsoft YaHei"/>
              </a:defRPr>
            </a:pPr>
            <a:r>
              <a:rPr sz="1200" b="1" i="0" u="none" strike="noStrike">
                <a:solidFill>
                  <a:srgbClr val="1D1D1F"/>
                </a:solidFill>
                <a:latin typeface="Microsoft YaHei"/>
              </a:rPr>
              <a:t>不同预训练模型的 F1 对比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456A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ELECTRA</c:v>
                  </c:pt>
                  <c:pt idx="1">
                    <c:v>BERT</c:v>
                  </c:pt>
                  <c:pt idx="2">
                    <c:v>NEZHA</c:v>
                  </c:pt>
                  <c:pt idx="3">
                    <c:v>ALBERT</c:v>
                  </c:pt>
                  <c:pt idx="4">
                    <c:v>ERNIE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87.03</c:v>
                </c:pt>
                <c:pt idx="1">
                  <c:v>87.03</c:v>
                </c:pt>
                <c:pt idx="2">
                  <c:v>86.92</c:v>
                </c:pt>
                <c:pt idx="3">
                  <c:v>88.51</c:v>
                </c:pt>
                <c:pt idx="4">
                  <c:v>90.05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4E8EC"/>
            </a:solidFill>
            <a:prstDash val="solid"/>
            <a:round/>
          </a:ln>
        </c:spPr>
        <c:txPr>
          <a:bodyPr/>
          <a:lstStyle/>
          <a:p>
            <a:pPr>
              <a:defRPr sz="92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2"/>
          <c:min val="84"/>
        </c:scaling>
        <c:delete val="0"/>
        <c:axPos val="l"/>
        <c:majorGridlines>
          <c:spPr>
            <a:ln w="12700" cap="flat">
              <a:solidFill>
                <a:srgbClr val="E4E8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E4E8EC"/>
            </a:solidFill>
            <a:prstDash val="solid"/>
            <a:round/>
          </a:ln>
        </c:spPr>
        <c:txPr>
          <a:bodyPr/>
          <a:lstStyle/>
          <a:p>
            <a:pPr>
              <a:defRPr sz="82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84B63"/>
          </a:solidFill>
          <a:ln w="12700">
            <a:solidFill>
              <a:srgbClr val="284B6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19456"/>
            <a:ext cx="3657600" cy="6400800"/>
          </a:xfrm>
          <a:prstGeom prst="roundRect">
            <a:avLst>
              <a:gd name="adj" fmla="val 500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5852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080" b="1" dirty="0">
                <a:solidFill>
                  <a:srgbClr val="28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浙江大学软件学院 研究生复试展示</a:t>
            </a:r>
            <a:endParaRPr lang="zh-CN" sz="1080" dirty="0"/>
          </a:p>
        </p:txBody>
      </p:sp>
      <p:sp>
        <p:nvSpPr>
          <p:cNvPr id="5" name="Text 3"/>
          <p:cNvSpPr/>
          <p:nvPr/>
        </p:nvSpPr>
        <p:spPr>
          <a:xfrm>
            <a:off x="749808" y="107899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995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个人介绍与项目经历汇报</a:t>
            </a:r>
            <a:endParaRPr lang="zh-CN" sz="2995" dirty="0"/>
          </a:p>
        </p:txBody>
      </p:sp>
      <p:sp>
        <p:nvSpPr>
          <p:cNvPr id="6" name="Text 4"/>
          <p:cNvSpPr/>
          <p:nvPr/>
        </p:nvSpPr>
        <p:spPr>
          <a:xfrm>
            <a:off x="786384" y="1883664"/>
            <a:ext cx="4754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6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李树岩 | 燕山大学 软件工程 | 2024.06 本科毕业</a:t>
            </a:r>
            <a:endParaRPr lang="zh-CN" sz="1360" dirty="0"/>
          </a:p>
        </p:txBody>
      </p:sp>
      <p:sp>
        <p:nvSpPr>
          <p:cNvPr id="7" name="Shape 5"/>
          <p:cNvSpPr/>
          <p:nvPr/>
        </p:nvSpPr>
        <p:spPr>
          <a:xfrm>
            <a:off x="786384" y="2395728"/>
            <a:ext cx="2267712" cy="310896"/>
          </a:xfrm>
          <a:prstGeom prst="roundRect">
            <a:avLst>
              <a:gd name="adj" fmla="val 23529"/>
            </a:avLst>
          </a:prstGeom>
          <a:solidFill>
            <a:srgbClr val="F3F5F7"/>
          </a:solidFill>
          <a:ln w="12700">
            <a:solidFill>
              <a:srgbClr val="F3F5F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45973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7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项目一：多智能体旅游助手</a:t>
            </a:r>
            <a:endParaRPr lang="zh-CN" sz="740" dirty="0"/>
          </a:p>
        </p:txBody>
      </p:sp>
      <p:sp>
        <p:nvSpPr>
          <p:cNvPr id="9" name="Shape 7"/>
          <p:cNvSpPr/>
          <p:nvPr/>
        </p:nvSpPr>
        <p:spPr>
          <a:xfrm>
            <a:off x="3218688" y="2395728"/>
            <a:ext cx="2670048" cy="310896"/>
          </a:xfrm>
          <a:prstGeom prst="roundRect">
            <a:avLst>
              <a:gd name="adj" fmla="val 23529"/>
            </a:avLst>
          </a:prstGeom>
          <a:solidFill>
            <a:srgbClr val="F5F1EA"/>
          </a:solidFill>
          <a:ln w="12700">
            <a:solidFill>
              <a:srgbClr val="F5F1E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36976" y="2459736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7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项目二：机器阅读理解研究</a:t>
            </a:r>
            <a:endParaRPr lang="zh-CN" sz="740" dirty="0"/>
          </a:p>
        </p:txBody>
      </p:sp>
      <p:sp>
        <p:nvSpPr>
          <p:cNvPr id="11" name="Text 9"/>
          <p:cNvSpPr/>
          <p:nvPr/>
        </p:nvSpPr>
        <p:spPr>
          <a:xfrm>
            <a:off x="786384" y="2871216"/>
            <a:ext cx="5989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096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本次展示围绕个人背景、本科阶段积累、两个代表性项目和读研规划展开，重点说明我在多智能体系统、检索增强、模型训练评测和机器阅读理解方向上的实践与思考。</a:t>
            </a:r>
            <a:endParaRPr lang="zh-CN" sz="1096" dirty="0"/>
          </a:p>
        </p:txBody>
      </p:sp>
      <p:sp>
        <p:nvSpPr>
          <p:cNvPr id="12" name="Shape 10"/>
          <p:cNvSpPr/>
          <p:nvPr/>
        </p:nvSpPr>
        <p:spPr>
          <a:xfrm>
            <a:off x="786384" y="4114800"/>
            <a:ext cx="1645920" cy="841248"/>
          </a:xfrm>
          <a:prstGeom prst="roundRect">
            <a:avLst>
              <a:gd name="adj" fmla="val 1304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4251960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40" b="1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初试总分</a:t>
            </a:r>
            <a:endParaRPr lang="zh-CN" sz="840" dirty="0"/>
          </a:p>
        </p:txBody>
      </p:sp>
      <p:sp>
        <p:nvSpPr>
          <p:cNvPr id="14" name="Text 12"/>
          <p:cNvSpPr/>
          <p:nvPr/>
        </p:nvSpPr>
        <p:spPr>
          <a:xfrm>
            <a:off x="950976" y="4507992"/>
            <a:ext cx="131673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409</a:t>
            </a:r>
            <a:endParaRPr lang="zh-CN" sz="1880" dirty="0"/>
          </a:p>
        </p:txBody>
      </p:sp>
      <p:sp>
        <p:nvSpPr>
          <p:cNvPr id="15" name="Shape 13"/>
          <p:cNvSpPr/>
          <p:nvPr/>
        </p:nvSpPr>
        <p:spPr>
          <a:xfrm>
            <a:off x="2596896" y="4114800"/>
            <a:ext cx="2148840" cy="841248"/>
          </a:xfrm>
          <a:prstGeom prst="roundRect">
            <a:avLst>
              <a:gd name="adj" fmla="val 13043"/>
            </a:avLst>
          </a:prstGeom>
          <a:solidFill>
            <a:srgbClr val="F5F1EA"/>
          </a:solidFill>
          <a:ln w="12700">
            <a:solidFill>
              <a:srgbClr val="F5F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61488" y="425196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40" b="1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本科专业</a:t>
            </a:r>
            <a:endParaRPr lang="zh-CN" sz="840" dirty="0"/>
          </a:p>
        </p:txBody>
      </p:sp>
      <p:sp>
        <p:nvSpPr>
          <p:cNvPr id="17" name="Text 15"/>
          <p:cNvSpPr/>
          <p:nvPr/>
        </p:nvSpPr>
        <p:spPr>
          <a:xfrm>
            <a:off x="2761488" y="4507992"/>
            <a:ext cx="181965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</a:t>
            </a:r>
            <a:endParaRPr lang="zh-CN" sz="1880" dirty="0"/>
          </a:p>
        </p:txBody>
      </p:sp>
      <p:sp>
        <p:nvSpPr>
          <p:cNvPr id="18" name="Shape 16"/>
          <p:cNvSpPr/>
          <p:nvPr/>
        </p:nvSpPr>
        <p:spPr>
          <a:xfrm>
            <a:off x="4910328" y="4114800"/>
            <a:ext cx="1773936" cy="841248"/>
          </a:xfrm>
          <a:prstGeom prst="roundRect">
            <a:avLst>
              <a:gd name="adj" fmla="val 13043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42519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40" b="1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研究兴趣</a:t>
            </a:r>
            <a:endParaRPr lang="zh-CN" sz="840" dirty="0"/>
          </a:p>
        </p:txBody>
      </p:sp>
      <p:sp>
        <p:nvSpPr>
          <p:cNvPr id="20" name="Text 18"/>
          <p:cNvSpPr/>
          <p:nvPr/>
        </p:nvSpPr>
        <p:spPr>
          <a:xfrm>
            <a:off x="5074920" y="4507992"/>
            <a:ext cx="1444752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NLP / LLM</a:t>
            </a:r>
            <a:endParaRPr lang="zh-CN" sz="1880" dirty="0"/>
          </a:p>
        </p:txBody>
      </p:sp>
      <p:sp>
        <p:nvSpPr>
          <p:cNvPr id="21" name="Text 19"/>
          <p:cNvSpPr/>
          <p:nvPr/>
        </p:nvSpPr>
        <p:spPr>
          <a:xfrm>
            <a:off x="786384" y="51023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李树岩</a:t>
            </a:r>
            <a:endParaRPr lang="zh-CN" sz="2400" dirty="0"/>
          </a:p>
        </p:txBody>
      </p:sp>
      <p:sp>
        <p:nvSpPr>
          <p:cNvPr id="22" name="Text 20"/>
          <p:cNvSpPr/>
          <p:nvPr/>
        </p:nvSpPr>
        <p:spPr>
          <a:xfrm>
            <a:off x="2249424" y="5212080"/>
            <a:ext cx="356616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04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籍贯：河北省衡水市 | 出生：2003.01.22</a:t>
            </a:r>
            <a:endParaRPr lang="zh-CN" sz="1040" dirty="0"/>
          </a:p>
        </p:txBody>
      </p:sp>
      <p:sp>
        <p:nvSpPr>
          <p:cNvPr id="23" name="Text 21"/>
          <p:cNvSpPr/>
          <p:nvPr/>
        </p:nvSpPr>
        <p:spPr>
          <a:xfrm>
            <a:off x="8705088" y="896112"/>
            <a:ext cx="914400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20" b="1" dirty="0">
                <a:solidFill>
                  <a:srgbClr val="28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zh-CN" sz="1420" dirty="0"/>
          </a:p>
        </p:txBody>
      </p:sp>
      <p:sp>
        <p:nvSpPr>
          <p:cNvPr id="24" name="Shape 22"/>
          <p:cNvSpPr/>
          <p:nvPr/>
        </p:nvSpPr>
        <p:spPr>
          <a:xfrm>
            <a:off x="8613648" y="1261872"/>
            <a:ext cx="1335024" cy="310896"/>
          </a:xfrm>
          <a:prstGeom prst="roundRect">
            <a:avLst>
              <a:gd name="adj" fmla="val 23529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31936" y="132588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7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多智能体系统</a:t>
            </a:r>
            <a:endParaRPr lang="zh-CN" sz="740" dirty="0"/>
          </a:p>
        </p:txBody>
      </p:sp>
      <p:sp>
        <p:nvSpPr>
          <p:cNvPr id="26" name="Shape 24"/>
          <p:cNvSpPr/>
          <p:nvPr/>
        </p:nvSpPr>
        <p:spPr>
          <a:xfrm>
            <a:off x="10241280" y="1261872"/>
            <a:ext cx="694944" cy="310896"/>
          </a:xfrm>
          <a:prstGeom prst="roundRect">
            <a:avLst>
              <a:gd name="adj" fmla="val 23529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59568" y="132588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7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zh-CN" sz="740" dirty="0"/>
          </a:p>
        </p:txBody>
      </p:sp>
      <p:sp>
        <p:nvSpPr>
          <p:cNvPr id="28" name="Shape 26"/>
          <p:cNvSpPr/>
          <p:nvPr/>
        </p:nvSpPr>
        <p:spPr>
          <a:xfrm>
            <a:off x="8613648" y="1700784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31936" y="1764792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7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LoRA 微调</a:t>
            </a:r>
            <a:endParaRPr lang="zh-CN" sz="740" dirty="0"/>
          </a:p>
        </p:txBody>
      </p:sp>
      <p:sp>
        <p:nvSpPr>
          <p:cNvPr id="30" name="Shape 28"/>
          <p:cNvSpPr/>
          <p:nvPr/>
        </p:nvSpPr>
        <p:spPr>
          <a:xfrm>
            <a:off x="10241280" y="1700784"/>
            <a:ext cx="1426464" cy="310896"/>
          </a:xfrm>
          <a:prstGeom prst="roundRect">
            <a:avLst>
              <a:gd name="adj" fmla="val 23529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59568" y="176479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7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工具调用</a:t>
            </a:r>
            <a:endParaRPr lang="zh-CN" sz="740" dirty="0"/>
          </a:p>
        </p:txBody>
      </p:sp>
      <p:sp>
        <p:nvSpPr>
          <p:cNvPr id="32" name="Shape 30"/>
          <p:cNvSpPr/>
          <p:nvPr/>
        </p:nvSpPr>
        <p:spPr>
          <a:xfrm>
            <a:off x="8613648" y="2139696"/>
            <a:ext cx="1335024" cy="310896"/>
          </a:xfrm>
          <a:prstGeom prst="roundRect">
            <a:avLst>
              <a:gd name="adj" fmla="val 23529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31936" y="2203704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7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机器阅读理解</a:t>
            </a:r>
            <a:endParaRPr lang="zh-CN" sz="740" dirty="0"/>
          </a:p>
        </p:txBody>
      </p:sp>
      <p:sp>
        <p:nvSpPr>
          <p:cNvPr id="34" name="Shape 32"/>
          <p:cNvSpPr/>
          <p:nvPr/>
        </p:nvSpPr>
        <p:spPr>
          <a:xfrm>
            <a:off x="10241280" y="2139696"/>
            <a:ext cx="969264" cy="310896"/>
          </a:xfrm>
          <a:prstGeom prst="roundRect">
            <a:avLst>
              <a:gd name="adj" fmla="val 23529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59568" y="2203704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7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实验评测</a:t>
            </a:r>
            <a:endParaRPr lang="zh-CN" sz="740" dirty="0"/>
          </a:p>
        </p:txBody>
      </p:sp>
      <p:sp>
        <p:nvSpPr>
          <p:cNvPr id="36" name="Shape 34"/>
          <p:cNvSpPr/>
          <p:nvPr/>
        </p:nvSpPr>
        <p:spPr>
          <a:xfrm>
            <a:off x="8613648" y="257860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31936" y="2642616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7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PaddleNLP</a:t>
            </a:r>
            <a:endParaRPr lang="zh-CN" sz="740" dirty="0"/>
          </a:p>
        </p:txBody>
      </p:sp>
      <p:sp>
        <p:nvSpPr>
          <p:cNvPr id="38" name="Shape 36"/>
          <p:cNvSpPr/>
          <p:nvPr/>
        </p:nvSpPr>
        <p:spPr>
          <a:xfrm>
            <a:off x="10241280" y="257860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59568" y="2642616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7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工程实践</a:t>
            </a:r>
            <a:endParaRPr lang="zh-CN" sz="740" dirty="0"/>
          </a:p>
        </p:txBody>
      </p:sp>
      <p:sp>
        <p:nvSpPr>
          <p:cNvPr id="40" name="Shape 38"/>
          <p:cNvSpPr/>
          <p:nvPr/>
        </p:nvSpPr>
        <p:spPr>
          <a:xfrm>
            <a:off x="8558784" y="3218688"/>
            <a:ext cx="27432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741664" y="33649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展示脉络</a:t>
            </a:r>
            <a:endParaRPr lang="zh-CN" sz="1320" dirty="0"/>
          </a:p>
        </p:txBody>
      </p:sp>
      <p:sp>
        <p:nvSpPr>
          <p:cNvPr id="42" name="Text 40"/>
          <p:cNvSpPr/>
          <p:nvPr/>
        </p:nvSpPr>
        <p:spPr>
          <a:xfrm>
            <a:off x="8741664" y="3675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6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先讲个人背景和本科积累，再分别介绍 OpenAgents 项目与毕业设计，最后汇报读研规划。</a:t>
            </a:r>
            <a:endParaRPr lang="zh-CN" sz="860" dirty="0"/>
          </a:p>
        </p:txBody>
      </p:sp>
      <p:sp>
        <p:nvSpPr>
          <p:cNvPr id="43" name="Shape 41"/>
          <p:cNvSpPr/>
          <p:nvPr/>
        </p:nvSpPr>
        <p:spPr>
          <a:xfrm>
            <a:off x="8558784" y="4224528"/>
            <a:ext cx="27432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741664" y="43708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表达原则</a:t>
            </a:r>
            <a:endParaRPr lang="zh-CN" sz="1320" dirty="0"/>
          </a:p>
        </p:txBody>
      </p:sp>
      <p:sp>
        <p:nvSpPr>
          <p:cNvPr id="45" name="Text 43"/>
          <p:cNvSpPr/>
          <p:nvPr/>
        </p:nvSpPr>
        <p:spPr>
          <a:xfrm>
            <a:off x="8741664" y="4681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6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尽量实事求是地说明做了什么、为什么这样做、指标体现了什么，而不是只罗列功能。</a:t>
            </a:r>
            <a:endParaRPr lang="zh-CN" sz="860" dirty="0"/>
          </a:p>
        </p:txBody>
      </p:sp>
      <p:sp>
        <p:nvSpPr>
          <p:cNvPr id="46" name="Shape 44"/>
          <p:cNvSpPr/>
          <p:nvPr/>
        </p:nvSpPr>
        <p:spPr>
          <a:xfrm>
            <a:off x="8558784" y="5230368"/>
            <a:ext cx="27432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741664" y="53766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希望传达的形象</a:t>
            </a:r>
            <a:endParaRPr lang="zh-CN" sz="1320" dirty="0"/>
          </a:p>
        </p:txBody>
      </p:sp>
      <p:sp>
        <p:nvSpPr>
          <p:cNvPr id="48" name="Text 46"/>
          <p:cNvSpPr/>
          <p:nvPr/>
        </p:nvSpPr>
        <p:spPr>
          <a:xfrm>
            <a:off x="8741664" y="5687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6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基础扎实、项目经历真实、愿意持续学习，也愿意把工程实践上升为更规范的科研训练。</a:t>
            </a:r>
            <a:endParaRPr lang="zh-CN" sz="8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284B63"/>
          </a:solidFill>
          <a:ln w="12700">
            <a:solidFill>
              <a:srgbClr val="284B6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204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1554480" y="329184"/>
            <a:ext cx="5120640" cy="348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个人背景与能力基础</a:t>
            </a:r>
            <a:endParaRPr lang="zh-CN" sz="2050" dirty="0"/>
          </a:p>
        </p:txBody>
      </p:sp>
      <p:sp>
        <p:nvSpPr>
          <p:cNvPr id="5" name="Text 3"/>
          <p:cNvSpPr/>
          <p:nvPr/>
        </p:nvSpPr>
        <p:spPr>
          <a:xfrm>
            <a:off x="1572768" y="859536"/>
            <a:ext cx="81381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8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先简要介绍教育背景、初试成绩、竞赛获奖和本科阶段形成的能力积累。</a:t>
            </a:r>
            <a:endParaRPr lang="zh-CN" sz="980" dirty="0"/>
          </a:p>
        </p:txBody>
      </p:sp>
      <p:sp>
        <p:nvSpPr>
          <p:cNvPr id="6" name="Shape 4"/>
          <p:cNvSpPr/>
          <p:nvPr/>
        </p:nvSpPr>
        <p:spPr>
          <a:xfrm>
            <a:off x="566928" y="1216152"/>
            <a:ext cx="1106424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572768"/>
            <a:ext cx="3822192" cy="4526280"/>
          </a:xfrm>
          <a:prstGeom prst="roundRect">
            <a:avLst>
              <a:gd name="adj" fmla="val 3828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1810512"/>
            <a:ext cx="10972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基本信息</a:t>
            </a:r>
            <a:endParaRPr lang="zh-CN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2176272"/>
            <a:ext cx="3182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姓名：李树岩</a:t>
            </a:r>
            <a:endParaRPr lang="zh-CN" sz="1020" dirty="0"/>
          </a:p>
        </p:txBody>
      </p:sp>
      <p:sp>
        <p:nvSpPr>
          <p:cNvPr id="10" name="Text 8"/>
          <p:cNvSpPr/>
          <p:nvPr/>
        </p:nvSpPr>
        <p:spPr>
          <a:xfrm>
            <a:off x="987552" y="2532888"/>
            <a:ext cx="3182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出生：2003.01.22</a:t>
            </a:r>
            <a:endParaRPr lang="zh-CN" sz="1020" dirty="0"/>
          </a:p>
        </p:txBody>
      </p:sp>
      <p:sp>
        <p:nvSpPr>
          <p:cNvPr id="11" name="Text 9"/>
          <p:cNvSpPr/>
          <p:nvPr/>
        </p:nvSpPr>
        <p:spPr>
          <a:xfrm>
            <a:off x="987552" y="2889504"/>
            <a:ext cx="3182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籍贯：河北省衡水市</a:t>
            </a:r>
            <a:endParaRPr lang="zh-CN" sz="1020" dirty="0"/>
          </a:p>
        </p:txBody>
      </p:sp>
      <p:sp>
        <p:nvSpPr>
          <p:cNvPr id="12" name="Text 10"/>
          <p:cNvSpPr/>
          <p:nvPr/>
        </p:nvSpPr>
        <p:spPr>
          <a:xfrm>
            <a:off x="987552" y="3246120"/>
            <a:ext cx="3182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本科：燕山大学 软件工程</a:t>
            </a:r>
            <a:endParaRPr lang="zh-CN" sz="1020" dirty="0"/>
          </a:p>
        </p:txBody>
      </p:sp>
      <p:sp>
        <p:nvSpPr>
          <p:cNvPr id="13" name="Text 11"/>
          <p:cNvSpPr/>
          <p:nvPr/>
        </p:nvSpPr>
        <p:spPr>
          <a:xfrm>
            <a:off x="987552" y="3602736"/>
            <a:ext cx="3182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毕业时间：2024.06 本科毕业</a:t>
            </a:r>
            <a:endParaRPr lang="zh-CN" sz="1020" dirty="0"/>
          </a:p>
        </p:txBody>
      </p:sp>
      <p:sp>
        <p:nvSpPr>
          <p:cNvPr id="14" name="Text 12"/>
          <p:cNvSpPr/>
          <p:nvPr/>
        </p:nvSpPr>
        <p:spPr>
          <a:xfrm>
            <a:off x="987552" y="3959352"/>
            <a:ext cx="3182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GPA / 排名：3.19 / 4.5（46 / 224）</a:t>
            </a:r>
            <a:endParaRPr lang="zh-CN" sz="1020" dirty="0"/>
          </a:p>
        </p:txBody>
      </p:sp>
      <p:sp>
        <p:nvSpPr>
          <p:cNvPr id="15" name="Text 13"/>
          <p:cNvSpPr/>
          <p:nvPr/>
        </p:nvSpPr>
        <p:spPr>
          <a:xfrm>
            <a:off x="987552" y="4315968"/>
            <a:ext cx="3182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英语：CET-4 544 / CET-6 574</a:t>
            </a:r>
            <a:endParaRPr lang="zh-CN" sz="1020" dirty="0"/>
          </a:p>
        </p:txBody>
      </p:sp>
      <p:sp>
        <p:nvSpPr>
          <p:cNvPr id="16" name="Shape 14"/>
          <p:cNvSpPr/>
          <p:nvPr/>
        </p:nvSpPr>
        <p:spPr>
          <a:xfrm>
            <a:off x="950976" y="4718304"/>
            <a:ext cx="3383280" cy="987552"/>
          </a:xfrm>
          <a:prstGeom prst="roundRect">
            <a:avLst>
              <a:gd name="adj" fmla="val 11111"/>
            </a:avLst>
          </a:prstGeom>
          <a:solidFill>
            <a:srgbClr val="EAF1F6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33856" y="48646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本科阶段形成的能力</a:t>
            </a:r>
            <a:endParaRPr lang="zh-CN" sz="1320" dirty="0"/>
          </a:p>
        </p:txBody>
      </p:sp>
      <p:sp>
        <p:nvSpPr>
          <p:cNvPr id="18" name="Text 16"/>
          <p:cNvSpPr/>
          <p:nvPr/>
        </p:nvSpPr>
        <p:spPr>
          <a:xfrm>
            <a:off x="1133856" y="517550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26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英语和数学基础较扎实，能够较快阅读论文和理解模型；做项目时习惯把实现、实验和复盘连起来思考。</a:t>
            </a:r>
            <a:endParaRPr lang="zh-CN" sz="926" dirty="0"/>
          </a:p>
        </p:txBody>
      </p:sp>
      <p:sp>
        <p:nvSpPr>
          <p:cNvPr id="19" name="Shape 17"/>
          <p:cNvSpPr/>
          <p:nvPr/>
        </p:nvSpPr>
        <p:spPr>
          <a:xfrm>
            <a:off x="4773168" y="1664208"/>
            <a:ext cx="1627632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80136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40" b="1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总分</a:t>
            </a:r>
            <a:endParaRPr lang="zh-CN" sz="840" dirty="0"/>
          </a:p>
        </p:txBody>
      </p:sp>
      <p:sp>
        <p:nvSpPr>
          <p:cNvPr id="21" name="Text 19"/>
          <p:cNvSpPr/>
          <p:nvPr/>
        </p:nvSpPr>
        <p:spPr>
          <a:xfrm>
            <a:off x="4937760" y="2057400"/>
            <a:ext cx="12984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409</a:t>
            </a:r>
            <a:endParaRPr lang="zh-CN" sz="1880" dirty="0"/>
          </a:p>
        </p:txBody>
      </p:sp>
      <p:sp>
        <p:nvSpPr>
          <p:cNvPr id="22" name="Shape 20"/>
          <p:cNvSpPr/>
          <p:nvPr/>
        </p:nvSpPr>
        <p:spPr>
          <a:xfrm>
            <a:off x="6565392" y="1664208"/>
            <a:ext cx="1243584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18013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40" b="1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政治</a:t>
            </a:r>
            <a:endParaRPr lang="zh-CN" sz="840" dirty="0"/>
          </a:p>
        </p:txBody>
      </p:sp>
      <p:sp>
        <p:nvSpPr>
          <p:cNvPr id="24" name="Text 22"/>
          <p:cNvSpPr/>
          <p:nvPr/>
        </p:nvSpPr>
        <p:spPr>
          <a:xfrm>
            <a:off x="6729984" y="2057400"/>
            <a:ext cx="91440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zh-CN" sz="1880" dirty="0"/>
          </a:p>
        </p:txBody>
      </p:sp>
      <p:sp>
        <p:nvSpPr>
          <p:cNvPr id="25" name="Shape 23"/>
          <p:cNvSpPr/>
          <p:nvPr/>
        </p:nvSpPr>
        <p:spPr>
          <a:xfrm>
            <a:off x="7973568" y="1664208"/>
            <a:ext cx="1243584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18013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40" b="1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</a:t>
            </a:r>
            <a:endParaRPr lang="zh-CN" sz="840" dirty="0"/>
          </a:p>
        </p:txBody>
      </p:sp>
      <p:sp>
        <p:nvSpPr>
          <p:cNvPr id="27" name="Text 25"/>
          <p:cNvSpPr/>
          <p:nvPr/>
        </p:nvSpPr>
        <p:spPr>
          <a:xfrm>
            <a:off x="8138160" y="2057400"/>
            <a:ext cx="91440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</a:t>
            </a:r>
            <a:endParaRPr lang="zh-CN" sz="1880" dirty="0"/>
          </a:p>
        </p:txBody>
      </p:sp>
      <p:sp>
        <p:nvSpPr>
          <p:cNvPr id="28" name="Shape 26"/>
          <p:cNvSpPr/>
          <p:nvPr/>
        </p:nvSpPr>
        <p:spPr>
          <a:xfrm>
            <a:off x="9381744" y="1664208"/>
            <a:ext cx="1243584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46336" y="18013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40" b="1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</a:t>
            </a:r>
            <a:endParaRPr lang="zh-CN" sz="840" dirty="0"/>
          </a:p>
        </p:txBody>
      </p:sp>
      <p:sp>
        <p:nvSpPr>
          <p:cNvPr id="30" name="Text 28"/>
          <p:cNvSpPr/>
          <p:nvPr/>
        </p:nvSpPr>
        <p:spPr>
          <a:xfrm>
            <a:off x="9546336" y="2057400"/>
            <a:ext cx="91440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145</a:t>
            </a:r>
            <a:endParaRPr lang="zh-CN" sz="1880" dirty="0"/>
          </a:p>
        </p:txBody>
      </p:sp>
      <p:sp>
        <p:nvSpPr>
          <p:cNvPr id="31" name="Shape 29"/>
          <p:cNvSpPr/>
          <p:nvPr/>
        </p:nvSpPr>
        <p:spPr>
          <a:xfrm>
            <a:off x="10789920" y="1664208"/>
            <a:ext cx="1024128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54512" y="1801368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40" b="1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专业课</a:t>
            </a:r>
            <a:endParaRPr lang="zh-CN" sz="840" dirty="0"/>
          </a:p>
        </p:txBody>
      </p:sp>
      <p:sp>
        <p:nvSpPr>
          <p:cNvPr id="33" name="Text 31"/>
          <p:cNvSpPr/>
          <p:nvPr/>
        </p:nvSpPr>
        <p:spPr>
          <a:xfrm>
            <a:off x="10954512" y="2057400"/>
            <a:ext cx="694944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126</a:t>
            </a:r>
            <a:endParaRPr lang="zh-CN" sz="1880" dirty="0"/>
          </a:p>
        </p:txBody>
      </p:sp>
      <p:sp>
        <p:nvSpPr>
          <p:cNvPr id="34" name="Shape 32"/>
          <p:cNvSpPr/>
          <p:nvPr/>
        </p:nvSpPr>
        <p:spPr>
          <a:xfrm>
            <a:off x="4773168" y="2834640"/>
            <a:ext cx="3127248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56048" y="2980944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课程与基础</a:t>
            </a:r>
            <a:endParaRPr lang="zh-CN" sz="1320" dirty="0"/>
          </a:p>
        </p:txBody>
      </p:sp>
      <p:sp>
        <p:nvSpPr>
          <p:cNvPr id="36" name="Text 34"/>
          <p:cNvSpPr/>
          <p:nvPr/>
        </p:nvSpPr>
        <p:spPr>
          <a:xfrm>
            <a:off x="4956048" y="3291840"/>
            <a:ext cx="2761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7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主修课程包括计算机组成原理、计算机网络、操作系统、数据结构、Python 机器学习和自然语言处理。</a:t>
            </a:r>
            <a:endParaRPr lang="zh-CN" sz="957" dirty="0"/>
          </a:p>
        </p:txBody>
      </p:sp>
      <p:sp>
        <p:nvSpPr>
          <p:cNvPr id="37" name="Shape 35"/>
          <p:cNvSpPr/>
          <p:nvPr/>
        </p:nvSpPr>
        <p:spPr>
          <a:xfrm>
            <a:off x="8119872" y="2834640"/>
            <a:ext cx="3127248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302752" y="2980944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竞赛与奖项</a:t>
            </a:r>
            <a:endParaRPr lang="zh-CN" sz="1320" dirty="0"/>
          </a:p>
        </p:txBody>
      </p:sp>
      <p:sp>
        <p:nvSpPr>
          <p:cNvPr id="39" name="Text 37"/>
          <p:cNvSpPr/>
          <p:nvPr/>
        </p:nvSpPr>
        <p:spPr>
          <a:xfrm>
            <a:off x="8302752" y="3291840"/>
            <a:ext cx="2761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7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次校级三等奖学金，全国大学生数学竞赛省级二等奖，美国大学生数学建模竞赛 S 奖。</a:t>
            </a:r>
            <a:endParaRPr lang="zh-CN" sz="957" dirty="0"/>
          </a:p>
        </p:txBody>
      </p:sp>
      <p:sp>
        <p:nvSpPr>
          <p:cNvPr id="40" name="Shape 38"/>
          <p:cNvSpPr/>
          <p:nvPr/>
        </p:nvSpPr>
        <p:spPr>
          <a:xfrm>
            <a:off x="4773168" y="4407408"/>
            <a:ext cx="3127248" cy="1408176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956048" y="4553712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英语与表达</a:t>
            </a:r>
            <a:endParaRPr lang="zh-CN" sz="1320" dirty="0"/>
          </a:p>
        </p:txBody>
      </p:sp>
      <p:sp>
        <p:nvSpPr>
          <p:cNvPr id="42" name="Text 40"/>
          <p:cNvSpPr/>
          <p:nvPr/>
        </p:nvSpPr>
        <p:spPr>
          <a:xfrm>
            <a:off x="4956048" y="4864608"/>
            <a:ext cx="2761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7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全国大学生英语竞赛全国三等奖；本科阶段担任英语港学习部长，持续保持英语学习和表达训练。</a:t>
            </a:r>
            <a:endParaRPr lang="zh-CN" sz="957" dirty="0"/>
          </a:p>
        </p:txBody>
      </p:sp>
      <p:sp>
        <p:nvSpPr>
          <p:cNvPr id="43" name="Shape 41"/>
          <p:cNvSpPr/>
          <p:nvPr/>
        </p:nvSpPr>
        <p:spPr>
          <a:xfrm>
            <a:off x="8119872" y="4407408"/>
            <a:ext cx="3127248" cy="1408176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302752" y="4553712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项目与工具基础</a:t>
            </a:r>
            <a:endParaRPr lang="zh-CN" sz="1320" dirty="0"/>
          </a:p>
        </p:txBody>
      </p:sp>
      <p:sp>
        <p:nvSpPr>
          <p:cNvPr id="45" name="Text 43"/>
          <p:cNvSpPr/>
          <p:nvPr/>
        </p:nvSpPr>
        <p:spPr>
          <a:xfrm>
            <a:off x="8302752" y="4864608"/>
            <a:ext cx="2761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7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 NLP、LLM 相关技术，能够使用 PaddleNLP、OpenAgents，以及 Cursor、Codex 等开发工具完成项目实践。</a:t>
            </a:r>
            <a:endParaRPr lang="zh-CN" sz="957" dirty="0"/>
          </a:p>
        </p:txBody>
      </p:sp>
      <p:sp>
        <p:nvSpPr>
          <p:cNvPr id="46" name="Shape 44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" y="6510528"/>
            <a:ext cx="7132320" cy="15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信息来源：用户提示、简历 PDF 与项目内相关文稿整理</a:t>
            </a:r>
            <a:endParaRPr lang="zh-CN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284B63"/>
          </a:solidFill>
          <a:ln w="12700">
            <a:solidFill>
              <a:srgbClr val="284B6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204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1554480" y="329184"/>
            <a:ext cx="5120640" cy="348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项目一：OpenAgents 多智能体旅游助手</a:t>
            </a:r>
            <a:endParaRPr lang="zh-CN" sz="2050" dirty="0"/>
          </a:p>
        </p:txBody>
      </p:sp>
      <p:sp>
        <p:nvSpPr>
          <p:cNvPr id="5" name="Text 3"/>
          <p:cNvSpPr/>
          <p:nvPr/>
        </p:nvSpPr>
        <p:spPr>
          <a:xfrm>
            <a:off x="1572768" y="859536"/>
            <a:ext cx="81381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8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先说明整体框架、消息流转和工程改造，再介绍我负责的关键设计。</a:t>
            </a:r>
            <a:endParaRPr lang="zh-CN" sz="980" dirty="0"/>
          </a:p>
        </p:txBody>
      </p:sp>
      <p:sp>
        <p:nvSpPr>
          <p:cNvPr id="6" name="Shape 4"/>
          <p:cNvSpPr/>
          <p:nvPr/>
        </p:nvSpPr>
        <p:spPr>
          <a:xfrm>
            <a:off x="566928" y="1216152"/>
            <a:ext cx="1106424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627632"/>
            <a:ext cx="155448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764792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40" b="1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智能体数量</a:t>
            </a:r>
            <a:endParaRPr lang="zh-CN" sz="840" dirty="0"/>
          </a:p>
        </p:txBody>
      </p:sp>
      <p:sp>
        <p:nvSpPr>
          <p:cNvPr id="9" name="Text 7"/>
          <p:cNvSpPr/>
          <p:nvPr/>
        </p:nvSpPr>
        <p:spPr>
          <a:xfrm>
            <a:off x="950976" y="2020824"/>
            <a:ext cx="122529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zh-CN" sz="1880" dirty="0"/>
          </a:p>
        </p:txBody>
      </p:sp>
      <p:sp>
        <p:nvSpPr>
          <p:cNvPr id="10" name="Shape 8"/>
          <p:cNvSpPr/>
          <p:nvPr/>
        </p:nvSpPr>
        <p:spPr>
          <a:xfrm>
            <a:off x="2523744" y="1627632"/>
            <a:ext cx="1865376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8336" y="176479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40" b="1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知识库条目</a:t>
            </a:r>
            <a:endParaRPr lang="zh-CN" sz="840" dirty="0"/>
          </a:p>
        </p:txBody>
      </p:sp>
      <p:sp>
        <p:nvSpPr>
          <p:cNvPr id="12" name="Text 10"/>
          <p:cNvSpPr/>
          <p:nvPr/>
        </p:nvSpPr>
        <p:spPr>
          <a:xfrm>
            <a:off x="2688336" y="2020824"/>
            <a:ext cx="1536192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15723</a:t>
            </a:r>
            <a:endParaRPr lang="zh-CN" sz="1880" dirty="0"/>
          </a:p>
        </p:txBody>
      </p:sp>
      <p:sp>
        <p:nvSpPr>
          <p:cNvPr id="13" name="Shape 11"/>
          <p:cNvSpPr/>
          <p:nvPr/>
        </p:nvSpPr>
        <p:spPr>
          <a:xfrm>
            <a:off x="4572000" y="1627632"/>
            <a:ext cx="1682496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76479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40" b="1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 训练集</a:t>
            </a:r>
            <a:endParaRPr lang="zh-CN" sz="840" dirty="0"/>
          </a:p>
        </p:txBody>
      </p:sp>
      <p:sp>
        <p:nvSpPr>
          <p:cNvPr id="15" name="Text 13"/>
          <p:cNvSpPr/>
          <p:nvPr/>
        </p:nvSpPr>
        <p:spPr>
          <a:xfrm>
            <a:off x="4736592" y="2020824"/>
            <a:ext cx="1353312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833</a:t>
            </a:r>
            <a:endParaRPr lang="zh-CN" sz="1880" dirty="0"/>
          </a:p>
        </p:txBody>
      </p:sp>
      <p:sp>
        <p:nvSpPr>
          <p:cNvPr id="16" name="Shape 14"/>
          <p:cNvSpPr/>
          <p:nvPr/>
        </p:nvSpPr>
        <p:spPr>
          <a:xfrm>
            <a:off x="6437376" y="1627632"/>
            <a:ext cx="1682496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176479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40" b="1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Spot 训练集</a:t>
            </a:r>
            <a:endParaRPr lang="zh-CN" sz="840" dirty="0"/>
          </a:p>
        </p:txBody>
      </p:sp>
      <p:sp>
        <p:nvSpPr>
          <p:cNvPr id="18" name="Text 16"/>
          <p:cNvSpPr/>
          <p:nvPr/>
        </p:nvSpPr>
        <p:spPr>
          <a:xfrm>
            <a:off x="6601968" y="2020824"/>
            <a:ext cx="1353312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8802</a:t>
            </a:r>
            <a:endParaRPr lang="zh-CN" sz="1880" dirty="0"/>
          </a:p>
        </p:txBody>
      </p:sp>
      <p:sp>
        <p:nvSpPr>
          <p:cNvPr id="19" name="Shape 17"/>
          <p:cNvSpPr/>
          <p:nvPr/>
        </p:nvSpPr>
        <p:spPr>
          <a:xfrm>
            <a:off x="8302752" y="1627632"/>
            <a:ext cx="2889504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17647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40" b="1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评测集</a:t>
            </a:r>
            <a:endParaRPr lang="zh-CN" sz="840" dirty="0"/>
          </a:p>
        </p:txBody>
      </p:sp>
      <p:sp>
        <p:nvSpPr>
          <p:cNvPr id="21" name="Text 19"/>
          <p:cNvSpPr/>
          <p:nvPr/>
        </p:nvSpPr>
        <p:spPr>
          <a:xfrm>
            <a:off x="8467344" y="2020824"/>
            <a:ext cx="256032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/ 198 / 150</a:t>
            </a:r>
            <a:endParaRPr lang="zh-CN" sz="1880" dirty="0"/>
          </a:p>
        </p:txBody>
      </p:sp>
      <p:sp>
        <p:nvSpPr>
          <p:cNvPr id="22" name="Shape 20"/>
          <p:cNvSpPr/>
          <p:nvPr/>
        </p:nvSpPr>
        <p:spPr>
          <a:xfrm>
            <a:off x="786384" y="2651760"/>
            <a:ext cx="10954512" cy="2578608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78992" y="2980944"/>
            <a:ext cx="1792224" cy="841248"/>
          </a:xfrm>
          <a:prstGeom prst="roundRect">
            <a:avLst>
              <a:gd name="adj" fmla="val 13043"/>
            </a:avLst>
          </a:prstGeom>
          <a:solidFill>
            <a:srgbClr val="F3F5F7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261872" y="3127248"/>
            <a:ext cx="1426464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用户问题</a:t>
            </a:r>
            <a:endParaRPr lang="zh-CN" sz="1120" dirty="0"/>
          </a:p>
        </p:txBody>
      </p:sp>
      <p:sp>
        <p:nvSpPr>
          <p:cNvPr id="25" name="Text 23"/>
          <p:cNvSpPr/>
          <p:nvPr/>
        </p:nvSpPr>
        <p:spPr>
          <a:xfrm>
            <a:off x="1261872" y="343814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36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 / 景点 / 行程</a:t>
            </a:r>
            <a:endParaRPr lang="zh-CN" sz="736" dirty="0"/>
          </a:p>
        </p:txBody>
      </p:sp>
      <p:sp>
        <p:nvSpPr>
          <p:cNvPr id="26" name="Shape 24"/>
          <p:cNvSpPr/>
          <p:nvPr/>
        </p:nvSpPr>
        <p:spPr>
          <a:xfrm>
            <a:off x="4645152" y="2779776"/>
            <a:ext cx="279806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28032" y="2926080"/>
            <a:ext cx="243230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6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travel_router</a:t>
            </a:r>
            <a:endParaRPr lang="zh-CN" sz="1360" dirty="0"/>
          </a:p>
        </p:txBody>
      </p:sp>
      <p:sp>
        <p:nvSpPr>
          <p:cNvPr id="28" name="Text 26"/>
          <p:cNvSpPr/>
          <p:nvPr/>
        </p:nvSpPr>
        <p:spPr>
          <a:xfrm>
            <a:off x="4828032" y="3236976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17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读记忆 -&gt; 消歧 -&gt; direct message 分发</a:t>
            </a:r>
            <a:endParaRPr lang="zh-CN" sz="817" dirty="0"/>
          </a:p>
        </p:txBody>
      </p:sp>
      <p:sp>
        <p:nvSpPr>
          <p:cNvPr id="29" name="Shape 27"/>
          <p:cNvSpPr/>
          <p:nvPr/>
        </p:nvSpPr>
        <p:spPr>
          <a:xfrm>
            <a:off x="8942832" y="2779776"/>
            <a:ext cx="1938528" cy="1078992"/>
          </a:xfrm>
          <a:prstGeom prst="roundRect">
            <a:avLst>
              <a:gd name="adj" fmla="val 10169"/>
            </a:avLst>
          </a:prstGeom>
          <a:solidFill>
            <a:srgbClr val="EAF1F6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25712" y="2926080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结构化记忆</a:t>
            </a:r>
            <a:endParaRPr lang="zh-CN" sz="1140" dirty="0"/>
          </a:p>
        </p:txBody>
      </p:sp>
      <p:sp>
        <p:nvSpPr>
          <p:cNvPr id="31" name="Text 29"/>
          <p:cNvSpPr/>
          <p:nvPr/>
        </p:nvSpPr>
        <p:spPr>
          <a:xfrm>
            <a:off x="9125712" y="3236976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75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 / 景点 / 时间</a:t>
            </a:r>
            <a:endParaRPr lang="zh-CN" sz="775" dirty="0"/>
          </a:p>
        </p:txBody>
      </p:sp>
      <p:sp>
        <p:nvSpPr>
          <p:cNvPr id="32" name="Shape 30"/>
          <p:cNvSpPr/>
          <p:nvPr/>
        </p:nvSpPr>
        <p:spPr>
          <a:xfrm>
            <a:off x="1865376" y="3913632"/>
            <a:ext cx="2066544" cy="914400"/>
          </a:xfrm>
          <a:prstGeom prst="roundRect">
            <a:avLst>
              <a:gd name="adj" fmla="val 12000"/>
            </a:avLst>
          </a:prstGeom>
          <a:solidFill>
            <a:srgbClr val="EAF1F6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048256" y="4059936"/>
            <a:ext cx="1700784" cy="20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weather_agent</a:t>
            </a:r>
            <a:endParaRPr lang="zh-CN" sz="1100" dirty="0"/>
          </a:p>
        </p:txBody>
      </p:sp>
      <p:sp>
        <p:nvSpPr>
          <p:cNvPr id="34" name="Text 32"/>
          <p:cNvSpPr/>
          <p:nvPr/>
        </p:nvSpPr>
        <p:spPr>
          <a:xfrm>
            <a:off x="2048256" y="437083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95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真实天气、温度和穿衣建议</a:t>
            </a:r>
            <a:endParaRPr lang="zh-CN" sz="795" dirty="0"/>
          </a:p>
        </p:txBody>
      </p:sp>
      <p:sp>
        <p:nvSpPr>
          <p:cNvPr id="35" name="Shape 33"/>
          <p:cNvSpPr/>
          <p:nvPr/>
        </p:nvSpPr>
        <p:spPr>
          <a:xfrm>
            <a:off x="4809744" y="3913632"/>
            <a:ext cx="2066544" cy="914400"/>
          </a:xfrm>
          <a:prstGeom prst="roundRect">
            <a:avLst>
              <a:gd name="adj" fmla="val 12000"/>
            </a:avLst>
          </a:prstGeom>
          <a:solidFill>
            <a:srgbClr val="EEF3EE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92624" y="4059936"/>
            <a:ext cx="1700784" cy="20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spot_agent</a:t>
            </a:r>
            <a:endParaRPr lang="zh-CN" sz="1100" dirty="0"/>
          </a:p>
        </p:txBody>
      </p:sp>
      <p:sp>
        <p:nvSpPr>
          <p:cNvPr id="37" name="Text 35"/>
          <p:cNvSpPr/>
          <p:nvPr/>
        </p:nvSpPr>
        <p:spPr>
          <a:xfrm>
            <a:off x="4992624" y="437083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95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高德 POI + 本地知识库检索</a:t>
            </a:r>
            <a:endParaRPr lang="zh-CN" sz="795" dirty="0"/>
          </a:p>
        </p:txBody>
      </p:sp>
      <p:sp>
        <p:nvSpPr>
          <p:cNvPr id="38" name="Shape 36"/>
          <p:cNvSpPr/>
          <p:nvPr/>
        </p:nvSpPr>
        <p:spPr>
          <a:xfrm>
            <a:off x="7754112" y="3913632"/>
            <a:ext cx="2066544" cy="914400"/>
          </a:xfrm>
          <a:prstGeom prst="roundRect">
            <a:avLst>
              <a:gd name="adj" fmla="val 12000"/>
            </a:avLst>
          </a:prstGeom>
          <a:solidFill>
            <a:srgbClr val="F5F1EA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936992" y="4059936"/>
            <a:ext cx="1700784" cy="20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plan_agent</a:t>
            </a:r>
            <a:endParaRPr lang="zh-CN" sz="1100" dirty="0"/>
          </a:p>
        </p:txBody>
      </p:sp>
      <p:sp>
        <p:nvSpPr>
          <p:cNvPr id="40" name="Text 38"/>
          <p:cNvSpPr/>
          <p:nvPr/>
        </p:nvSpPr>
        <p:spPr>
          <a:xfrm>
            <a:off x="7936992" y="437083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75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路线规划、酒店与多轮行程建议</a:t>
            </a:r>
            <a:endParaRPr lang="zh-CN" sz="775" dirty="0"/>
          </a:p>
        </p:txBody>
      </p:sp>
      <p:sp>
        <p:nvSpPr>
          <p:cNvPr id="41" name="Shape 39"/>
          <p:cNvSpPr/>
          <p:nvPr/>
        </p:nvSpPr>
        <p:spPr>
          <a:xfrm>
            <a:off x="1865376" y="4882896"/>
            <a:ext cx="7955280" cy="237744"/>
          </a:xfrm>
          <a:prstGeom prst="roundRect">
            <a:avLst>
              <a:gd name="adj" fmla="val 38462"/>
            </a:avLst>
          </a:prstGeom>
          <a:solidFill>
            <a:srgbClr val="F3F5F7"/>
          </a:solidFill>
          <a:ln w="12700">
            <a:solidFill>
              <a:srgbClr val="F3F5F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84832" y="4956048"/>
            <a:ext cx="7534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78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工具层：高德 POI / Open-Meteo / 驾车路线 / search_local_knowledge / save_context / get_context</a:t>
            </a:r>
            <a:endParaRPr lang="zh-CN" sz="780" dirty="0"/>
          </a:p>
        </p:txBody>
      </p:sp>
      <p:sp>
        <p:nvSpPr>
          <p:cNvPr id="43" name="Shape 41"/>
          <p:cNvSpPr/>
          <p:nvPr/>
        </p:nvSpPr>
        <p:spPr>
          <a:xfrm>
            <a:off x="2871216" y="3401568"/>
            <a:ext cx="1773936" cy="-82296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43216" y="3319272"/>
            <a:ext cx="1499616" cy="82296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44184" y="3858768"/>
            <a:ext cx="0" cy="54864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44184" y="3858768"/>
            <a:ext cx="-3145536" cy="54864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44184" y="3858768"/>
            <a:ext cx="2743200" cy="54864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98648" y="4828032"/>
            <a:ext cx="0" cy="54864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43016" y="4828032"/>
            <a:ext cx="0" cy="54864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87384" y="4828032"/>
            <a:ext cx="0" cy="54864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6384" y="5468112"/>
            <a:ext cx="3419856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69264" y="5614416"/>
            <a:ext cx="3054096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改造一：架构从广播式改到路由式</a:t>
            </a:r>
            <a:endParaRPr lang="zh-CN" sz="1000" dirty="0"/>
          </a:p>
        </p:txBody>
      </p:sp>
      <p:sp>
        <p:nvSpPr>
          <p:cNvPr id="53" name="Text 51"/>
          <p:cNvSpPr/>
          <p:nvPr/>
        </p:nvSpPr>
        <p:spPr>
          <a:xfrm>
            <a:off x="969264" y="5925312"/>
            <a:ext cx="3054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travel_router 为统一入口，降低多 Agent 抢答和越权调用。</a:t>
            </a:r>
            <a:endParaRPr lang="zh-CN" sz="700" dirty="0"/>
          </a:p>
        </p:txBody>
      </p:sp>
      <p:sp>
        <p:nvSpPr>
          <p:cNvPr id="54" name="Shape 52"/>
          <p:cNvSpPr/>
          <p:nvPr/>
        </p:nvSpPr>
        <p:spPr>
          <a:xfrm>
            <a:off x="4535424" y="5468112"/>
            <a:ext cx="3419856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718304" y="5614416"/>
            <a:ext cx="3054096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改造二：能力从 prompt 内置改到工具驱动</a:t>
            </a:r>
            <a:endParaRPr lang="zh-CN" sz="1000" dirty="0"/>
          </a:p>
        </p:txBody>
      </p:sp>
      <p:sp>
        <p:nvSpPr>
          <p:cNvPr id="56" name="Text 54"/>
          <p:cNvSpPr/>
          <p:nvPr/>
        </p:nvSpPr>
        <p:spPr>
          <a:xfrm>
            <a:off x="4718304" y="5925312"/>
            <a:ext cx="3054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把天气、POI、路线、知识检索和记忆读写解耦为 MCP 接口。</a:t>
            </a:r>
            <a:endParaRPr lang="zh-CN" sz="700" dirty="0"/>
          </a:p>
        </p:txBody>
      </p:sp>
      <p:sp>
        <p:nvSpPr>
          <p:cNvPr id="57" name="Shape 55"/>
          <p:cNvSpPr/>
          <p:nvPr/>
        </p:nvSpPr>
        <p:spPr>
          <a:xfrm>
            <a:off x="8284464" y="5468112"/>
            <a:ext cx="3456432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467344" y="5614416"/>
            <a:ext cx="3090672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改造三：把原型补成完整实验仓库</a:t>
            </a:r>
            <a:endParaRPr lang="zh-CN" sz="1000" dirty="0"/>
          </a:p>
        </p:txBody>
      </p:sp>
      <p:sp>
        <p:nvSpPr>
          <p:cNvPr id="59" name="Text 57"/>
          <p:cNvSpPr/>
          <p:nvPr/>
        </p:nvSpPr>
        <p:spPr>
          <a:xfrm>
            <a:off x="8467344" y="5925312"/>
            <a:ext cx="3090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补齐数据、索引、LoRA 权重、评测脚本、Gradio UI 和修复文档。</a:t>
            </a:r>
            <a:endParaRPr lang="zh-CN" sz="700" dirty="0"/>
          </a:p>
        </p:txBody>
      </p:sp>
      <p:sp>
        <p:nvSpPr>
          <p:cNvPr id="60" name="Shape 58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5216" y="6510528"/>
            <a:ext cx="7132320" cy="15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来源：README、README_相对原版改造说明、agents/*.yaml、tools/*.py</a:t>
            </a:r>
            <a:endParaRPr lang="zh-CN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284B63"/>
          </a:solidFill>
          <a:ln w="12700">
            <a:solidFill>
              <a:srgbClr val="284B6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204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1554480" y="329184"/>
            <a:ext cx="5120640" cy="348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项目一：亮点工作与实验结果</a:t>
            </a:r>
            <a:endParaRPr lang="zh-CN" sz="2050" dirty="0"/>
          </a:p>
        </p:txBody>
      </p:sp>
      <p:sp>
        <p:nvSpPr>
          <p:cNvPr id="5" name="Text 3"/>
          <p:cNvSpPr/>
          <p:nvPr/>
        </p:nvSpPr>
        <p:spPr>
          <a:xfrm>
            <a:off x="1572768" y="859536"/>
            <a:ext cx="81381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8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这一页重点说明我做了哪些关键工作，以及这些工作对应的指标变化和工程认识。</a:t>
            </a:r>
            <a:endParaRPr lang="zh-CN" sz="980" dirty="0"/>
          </a:p>
        </p:txBody>
      </p:sp>
      <p:sp>
        <p:nvSpPr>
          <p:cNvPr id="6" name="Shape 4"/>
          <p:cNvSpPr/>
          <p:nvPr/>
        </p:nvSpPr>
        <p:spPr>
          <a:xfrm>
            <a:off x="566928" y="1216152"/>
            <a:ext cx="1106424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804672" y="1719072"/>
          <a:ext cx="5394960" cy="3822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437376" y="1737360"/>
            <a:ext cx="464515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20256" y="1883664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LoRA 微调结果</a:t>
            </a:r>
            <a:endParaRPr lang="zh-CN" sz="1320" dirty="0"/>
          </a:p>
        </p:txBody>
      </p:sp>
      <p:sp>
        <p:nvSpPr>
          <p:cNvPr id="10" name="Text 7"/>
          <p:cNvSpPr/>
          <p:nvPr/>
        </p:nvSpPr>
        <p:spPr>
          <a:xfrm>
            <a:off x="6620256" y="2194560"/>
            <a:ext cx="4279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7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34 条 router benchmark 上，Tool-name accuracy 从 51.19% 提升到 100%，Argument exact 从 19.57% 提升到 89.13%，Sample full-chain success 从 20.59% 提升到 85.29%。</a:t>
            </a:r>
            <a:endParaRPr lang="zh-CN" sz="957" dirty="0"/>
          </a:p>
        </p:txBody>
      </p:sp>
      <p:sp>
        <p:nvSpPr>
          <p:cNvPr id="11" name="Shape 8"/>
          <p:cNvSpPr/>
          <p:nvPr/>
        </p:nvSpPr>
        <p:spPr>
          <a:xfrm>
            <a:off x="6437376" y="3127248"/>
            <a:ext cx="464515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20256" y="3273552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 RAG 结果</a:t>
            </a:r>
            <a:endParaRPr lang="zh-CN" sz="1320" dirty="0"/>
          </a:p>
        </p:txBody>
      </p:sp>
      <p:sp>
        <p:nvSpPr>
          <p:cNvPr id="13" name="Text 10"/>
          <p:cNvSpPr/>
          <p:nvPr/>
        </p:nvSpPr>
        <p:spPr>
          <a:xfrm>
            <a:off x="6620256" y="3584448"/>
            <a:ext cx="4279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7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15240 文档版本和 198 条样例上，宽松 Hit@1 为 42.93%；城市级问题 Hit@1 为 86.84%；手写攻略类 Hit@1 为 91.67% 。</a:t>
            </a:r>
            <a:endParaRPr lang="zh-CN" sz="957" dirty="0"/>
          </a:p>
        </p:txBody>
      </p:sp>
      <p:sp>
        <p:nvSpPr>
          <p:cNvPr id="14" name="Shape 11"/>
          <p:cNvSpPr/>
          <p:nvPr/>
        </p:nvSpPr>
        <p:spPr>
          <a:xfrm>
            <a:off x="6437376" y="4517136"/>
            <a:ext cx="4645152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620256" y="4663440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实事求是的实验认识</a:t>
            </a:r>
            <a:endParaRPr lang="zh-CN" sz="1320" dirty="0"/>
          </a:p>
        </p:txBody>
      </p:sp>
      <p:sp>
        <p:nvSpPr>
          <p:cNvPr id="16" name="Text 13"/>
          <p:cNvSpPr/>
          <p:nvPr/>
        </p:nvSpPr>
        <p:spPr>
          <a:xfrm>
            <a:off x="6620256" y="4974336"/>
            <a:ext cx="4279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78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Spot LoRA 在 150 条 CrossWOZ 上让回答更像旅游助手，ROUGE-L F1 从 2.66% 提升到 27.36%；但 strict success 从 98% 下降到 78% ，说明开放生成任务更依赖数据与指标匹配。</a:t>
            </a:r>
            <a:endParaRPr lang="zh-CN" sz="878" dirty="0"/>
          </a:p>
        </p:txBody>
      </p:sp>
      <p:sp>
        <p:nvSpPr>
          <p:cNvPr id="17" name="Shape 14"/>
          <p:cNvSpPr/>
          <p:nvPr/>
        </p:nvSpPr>
        <p:spPr>
          <a:xfrm>
            <a:off x="804672" y="5742432"/>
            <a:ext cx="10277856" cy="384048"/>
          </a:xfrm>
          <a:prstGeom prst="roundRect">
            <a:avLst>
              <a:gd name="adj" fmla="val 23810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42416" y="5843016"/>
            <a:ext cx="9802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900" dirty="0">
                <a:solidFill>
                  <a:srgbClr val="28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我的主要工作包括：多 Agent 路由设计、Hybrid RAG 建库、LoRA 微调、评测集构建，以及围绕城市解析、POI 优先策略、消息回退和记忆 schema 的 badcase 修复。</a:t>
            </a:r>
            <a:endParaRPr lang="zh-CN" sz="900" dirty="0"/>
          </a:p>
        </p:txBody>
      </p:sp>
      <p:sp>
        <p:nvSpPr>
          <p:cNvPr id="19" name="Shape 16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5216" y="6510528"/>
            <a:ext cx="7132320" cy="15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来源：0314eval 报告、RAG 评测结果、LoRA 评测总结与修复文档</a:t>
            </a:r>
            <a:endParaRPr lang="zh-CN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284B63"/>
          </a:solidFill>
          <a:ln w="12700">
            <a:solidFill>
              <a:srgbClr val="284B6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204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1554480" y="329184"/>
            <a:ext cx="5120640" cy="348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项目二：机器阅读理解模型研究</a:t>
            </a:r>
            <a:endParaRPr lang="zh-CN" sz="2050" dirty="0"/>
          </a:p>
        </p:txBody>
      </p:sp>
      <p:sp>
        <p:nvSpPr>
          <p:cNvPr id="5" name="Text 3"/>
          <p:cNvSpPr/>
          <p:nvPr/>
        </p:nvSpPr>
        <p:spPr>
          <a:xfrm>
            <a:off x="1572768" y="859536"/>
            <a:ext cx="81381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8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这是我的毕业设计，核心是围绕 DuReader-robust 做模型比较、策略优化和部署验证。</a:t>
            </a:r>
            <a:endParaRPr lang="zh-CN" sz="980" dirty="0"/>
          </a:p>
        </p:txBody>
      </p:sp>
      <p:sp>
        <p:nvSpPr>
          <p:cNvPr id="6" name="Shape 4"/>
          <p:cNvSpPr/>
          <p:nvPr/>
        </p:nvSpPr>
        <p:spPr>
          <a:xfrm>
            <a:off x="566928" y="1216152"/>
            <a:ext cx="1106424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645920"/>
            <a:ext cx="3035808" cy="448056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4128" y="1883664"/>
            <a:ext cx="15544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研究任务与数据</a:t>
            </a:r>
            <a:endParaRPr lang="zh-CN" sz="1520" dirty="0"/>
          </a:p>
        </p:txBody>
      </p:sp>
      <p:sp>
        <p:nvSpPr>
          <p:cNvPr id="9" name="Text 7"/>
          <p:cNvSpPr/>
          <p:nvPr/>
        </p:nvSpPr>
        <p:spPr>
          <a:xfrm>
            <a:off x="1024128" y="2231136"/>
            <a:ext cx="2542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77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面向中文抽取式机器阅读理解任务，对多个预训练模型进行同参数比较，并围绕数据增强、损失函数、对抗训练和优化器做对比实验，寻找更优的训练方案。</a:t>
            </a:r>
            <a:endParaRPr lang="zh-CN" sz="977" dirty="0"/>
          </a:p>
        </p:txBody>
      </p:sp>
      <p:sp>
        <p:nvSpPr>
          <p:cNvPr id="10" name="Shape 8"/>
          <p:cNvSpPr/>
          <p:nvPr/>
        </p:nvSpPr>
        <p:spPr>
          <a:xfrm>
            <a:off x="1024128" y="3401568"/>
            <a:ext cx="1097280" cy="749808"/>
          </a:xfrm>
          <a:prstGeom prst="roundRect">
            <a:avLst>
              <a:gd name="adj" fmla="val 1463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53872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40" b="1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</a:t>
            </a:r>
            <a:endParaRPr lang="zh-CN" sz="840" dirty="0"/>
          </a:p>
        </p:txBody>
      </p:sp>
      <p:sp>
        <p:nvSpPr>
          <p:cNvPr id="12" name="Text 10"/>
          <p:cNvSpPr/>
          <p:nvPr/>
        </p:nvSpPr>
        <p:spPr>
          <a:xfrm>
            <a:off x="1188720" y="3794760"/>
            <a:ext cx="76809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14520</a:t>
            </a:r>
            <a:endParaRPr lang="zh-CN" sz="1880" dirty="0"/>
          </a:p>
        </p:txBody>
      </p:sp>
      <p:sp>
        <p:nvSpPr>
          <p:cNvPr id="13" name="Shape 11"/>
          <p:cNvSpPr/>
          <p:nvPr/>
        </p:nvSpPr>
        <p:spPr>
          <a:xfrm>
            <a:off x="2286000" y="3401568"/>
            <a:ext cx="1097280" cy="749808"/>
          </a:xfrm>
          <a:prstGeom prst="roundRect">
            <a:avLst>
              <a:gd name="adj" fmla="val 14634"/>
            </a:avLst>
          </a:prstGeom>
          <a:solidFill>
            <a:srgbClr val="F5F1EA"/>
          </a:solidFill>
          <a:ln w="12700">
            <a:solidFill>
              <a:srgbClr val="F5F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353872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40" b="1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</a:t>
            </a:r>
            <a:endParaRPr lang="zh-CN" sz="840" dirty="0"/>
          </a:p>
        </p:txBody>
      </p:sp>
      <p:sp>
        <p:nvSpPr>
          <p:cNvPr id="15" name="Text 13"/>
          <p:cNvSpPr/>
          <p:nvPr/>
        </p:nvSpPr>
        <p:spPr>
          <a:xfrm>
            <a:off x="2450592" y="3794760"/>
            <a:ext cx="76809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1417</a:t>
            </a:r>
            <a:endParaRPr lang="zh-CN" sz="1880" dirty="0"/>
          </a:p>
        </p:txBody>
      </p:sp>
      <p:sp>
        <p:nvSpPr>
          <p:cNvPr id="16" name="Shape 14"/>
          <p:cNvSpPr/>
          <p:nvPr/>
        </p:nvSpPr>
        <p:spPr>
          <a:xfrm>
            <a:off x="1024128" y="4315968"/>
            <a:ext cx="1097280" cy="749808"/>
          </a:xfrm>
          <a:prstGeom prst="roundRect">
            <a:avLst>
              <a:gd name="adj" fmla="val 14634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45312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40" b="1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Avg ctx</a:t>
            </a:r>
            <a:endParaRPr lang="zh-CN" sz="840" dirty="0"/>
          </a:p>
        </p:txBody>
      </p:sp>
      <p:sp>
        <p:nvSpPr>
          <p:cNvPr id="18" name="Text 16"/>
          <p:cNvSpPr/>
          <p:nvPr/>
        </p:nvSpPr>
        <p:spPr>
          <a:xfrm>
            <a:off x="1188720" y="4709160"/>
            <a:ext cx="76809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282</a:t>
            </a:r>
            <a:endParaRPr lang="zh-CN" sz="1880" dirty="0"/>
          </a:p>
        </p:txBody>
      </p:sp>
      <p:sp>
        <p:nvSpPr>
          <p:cNvPr id="19" name="Shape 17"/>
          <p:cNvSpPr/>
          <p:nvPr/>
        </p:nvSpPr>
        <p:spPr>
          <a:xfrm>
            <a:off x="2286000" y="4315968"/>
            <a:ext cx="1097280" cy="749808"/>
          </a:xfrm>
          <a:prstGeom prst="roundRect">
            <a:avLst>
              <a:gd name="adj" fmla="val 14634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0592" y="445312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40" b="1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ctx</a:t>
            </a:r>
            <a:endParaRPr lang="zh-CN" sz="840" dirty="0"/>
          </a:p>
        </p:txBody>
      </p:sp>
      <p:sp>
        <p:nvSpPr>
          <p:cNvPr id="21" name="Text 19"/>
          <p:cNvSpPr/>
          <p:nvPr/>
        </p:nvSpPr>
        <p:spPr>
          <a:xfrm>
            <a:off x="2450592" y="4709160"/>
            <a:ext cx="76809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1881</a:t>
            </a:r>
            <a:endParaRPr lang="zh-CN" sz="1880" dirty="0"/>
          </a:p>
        </p:txBody>
      </p:sp>
      <p:sp>
        <p:nvSpPr>
          <p:cNvPr id="22" name="Shape 20"/>
          <p:cNvSpPr/>
          <p:nvPr/>
        </p:nvSpPr>
        <p:spPr>
          <a:xfrm>
            <a:off x="1024128" y="5230368"/>
            <a:ext cx="2359152" cy="713232"/>
          </a:xfrm>
          <a:prstGeom prst="roundRect">
            <a:avLst>
              <a:gd name="adj" fmla="val 15385"/>
            </a:avLst>
          </a:prstGeom>
          <a:solidFill>
            <a:srgbClr val="F3F5F7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207008" y="537667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08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长文本处理</a:t>
            </a:r>
            <a:endParaRPr lang="zh-CN" sz="1080" dirty="0"/>
          </a:p>
        </p:txBody>
      </p:sp>
      <p:sp>
        <p:nvSpPr>
          <p:cNvPr id="24" name="Text 22"/>
          <p:cNvSpPr/>
          <p:nvPr/>
        </p:nvSpPr>
        <p:spPr>
          <a:xfrm>
            <a:off x="1207008" y="5687568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6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 max_seq_length=512、doc_stride=128 的滑动窗口方案，避免答案落在截断边界外。</a:t>
            </a:r>
            <a:endParaRPr lang="zh-CN" sz="860" dirty="0"/>
          </a:p>
        </p:txBody>
      </p:sp>
      <p:sp>
        <p:nvSpPr>
          <p:cNvPr id="25" name="Shape 23"/>
          <p:cNvSpPr/>
          <p:nvPr/>
        </p:nvSpPr>
        <p:spPr>
          <a:xfrm>
            <a:off x="4078224" y="1664208"/>
            <a:ext cx="7187184" cy="204825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52544" y="1901952"/>
            <a:ext cx="1097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zh-CN" sz="1520" dirty="0"/>
          </a:p>
        </p:txBody>
      </p:sp>
      <p:sp>
        <p:nvSpPr>
          <p:cNvPr id="27" name="Shape 25"/>
          <p:cNvSpPr/>
          <p:nvPr/>
        </p:nvSpPr>
        <p:spPr>
          <a:xfrm>
            <a:off x="4352544" y="2267712"/>
            <a:ext cx="1225296" cy="1060704"/>
          </a:xfrm>
          <a:prstGeom prst="roundRect">
            <a:avLst>
              <a:gd name="adj" fmla="val 8621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8848" y="239572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6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理论调研</a:t>
            </a:r>
            <a:endParaRPr lang="zh-CN" sz="960" dirty="0"/>
          </a:p>
        </p:txBody>
      </p:sp>
      <p:sp>
        <p:nvSpPr>
          <p:cNvPr id="29" name="Text 27"/>
          <p:cNvSpPr/>
          <p:nvPr/>
        </p:nvSpPr>
        <p:spPr>
          <a:xfrm>
            <a:off x="4498848" y="2651760"/>
            <a:ext cx="932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96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 Transformer、BERT、ERNIE 等模型原理。</a:t>
            </a:r>
            <a:endParaRPr lang="zh-CN" sz="796" dirty="0"/>
          </a:p>
        </p:txBody>
      </p:sp>
      <p:sp>
        <p:nvSpPr>
          <p:cNvPr id="30" name="Shape 28"/>
          <p:cNvSpPr/>
          <p:nvPr/>
        </p:nvSpPr>
        <p:spPr>
          <a:xfrm>
            <a:off x="5650992" y="2267712"/>
            <a:ext cx="1225296" cy="1060704"/>
          </a:xfrm>
          <a:prstGeom prst="roundRect">
            <a:avLst>
              <a:gd name="adj" fmla="val 8621"/>
            </a:avLst>
          </a:prstGeom>
          <a:solidFill>
            <a:srgbClr val="F3F5F7"/>
          </a:solidFill>
          <a:ln w="12700">
            <a:solidFill>
              <a:srgbClr val="F3F5F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97296" y="239572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6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数据处理</a:t>
            </a:r>
            <a:endParaRPr lang="zh-CN" sz="960" dirty="0"/>
          </a:p>
        </p:txBody>
      </p:sp>
      <p:sp>
        <p:nvSpPr>
          <p:cNvPr id="32" name="Text 30"/>
          <p:cNvSpPr/>
          <p:nvPr/>
        </p:nvSpPr>
        <p:spPr>
          <a:xfrm>
            <a:off x="5797296" y="2651760"/>
            <a:ext cx="932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96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编码，配合滑动窗口处理长文本。</a:t>
            </a:r>
            <a:endParaRPr lang="zh-CN" sz="796" dirty="0"/>
          </a:p>
        </p:txBody>
      </p:sp>
      <p:sp>
        <p:nvSpPr>
          <p:cNvPr id="33" name="Shape 31"/>
          <p:cNvSpPr/>
          <p:nvPr/>
        </p:nvSpPr>
        <p:spPr>
          <a:xfrm>
            <a:off x="6949440" y="2267712"/>
            <a:ext cx="1225296" cy="1060704"/>
          </a:xfrm>
          <a:prstGeom prst="roundRect">
            <a:avLst>
              <a:gd name="adj" fmla="val 8621"/>
            </a:avLst>
          </a:prstGeom>
          <a:solidFill>
            <a:srgbClr val="F5F1EA"/>
          </a:solidFill>
          <a:ln w="12700">
            <a:solidFill>
              <a:srgbClr val="F5F1E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95744" y="239572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6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模型对比</a:t>
            </a:r>
            <a:endParaRPr lang="zh-CN" sz="960" dirty="0"/>
          </a:p>
        </p:txBody>
      </p:sp>
      <p:sp>
        <p:nvSpPr>
          <p:cNvPr id="35" name="Text 33"/>
          <p:cNvSpPr/>
          <p:nvPr/>
        </p:nvSpPr>
        <p:spPr>
          <a:xfrm>
            <a:off x="7095744" y="2651760"/>
            <a:ext cx="932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96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ELECTRA、BERT、NEZHA、ALBERT、ERNIE。</a:t>
            </a:r>
            <a:endParaRPr lang="zh-CN" sz="796" dirty="0"/>
          </a:p>
        </p:txBody>
      </p:sp>
      <p:sp>
        <p:nvSpPr>
          <p:cNvPr id="36" name="Shape 34"/>
          <p:cNvSpPr/>
          <p:nvPr/>
        </p:nvSpPr>
        <p:spPr>
          <a:xfrm>
            <a:off x="8247888" y="2267712"/>
            <a:ext cx="1225296" cy="1060704"/>
          </a:xfrm>
          <a:prstGeom prst="roundRect">
            <a:avLst>
              <a:gd name="adj" fmla="val 8621"/>
            </a:avLst>
          </a:prstGeom>
          <a:solidFill>
            <a:srgbClr val="EEF3EE"/>
          </a:solidFill>
          <a:ln w="12700">
            <a:solidFill>
              <a:srgbClr val="EEF3E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94192" y="239572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6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策略实验</a:t>
            </a:r>
            <a:endParaRPr lang="zh-CN" sz="960" dirty="0"/>
          </a:p>
        </p:txBody>
      </p:sp>
      <p:sp>
        <p:nvSpPr>
          <p:cNvPr id="38" name="Text 36"/>
          <p:cNvSpPr/>
          <p:nvPr/>
        </p:nvSpPr>
        <p:spPr>
          <a:xfrm>
            <a:off x="8394192" y="2651760"/>
            <a:ext cx="932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96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mask、softmax、FGM、AdamW/Lamb。</a:t>
            </a:r>
            <a:endParaRPr lang="zh-CN" sz="796" dirty="0"/>
          </a:p>
        </p:txBody>
      </p:sp>
      <p:sp>
        <p:nvSpPr>
          <p:cNvPr id="39" name="Shape 37"/>
          <p:cNvSpPr/>
          <p:nvPr/>
        </p:nvSpPr>
        <p:spPr>
          <a:xfrm>
            <a:off x="9546336" y="2267712"/>
            <a:ext cx="1225296" cy="1060704"/>
          </a:xfrm>
          <a:prstGeom prst="roundRect">
            <a:avLst>
              <a:gd name="adj" fmla="val 8621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92640" y="239572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6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部署演示</a:t>
            </a:r>
            <a:endParaRPr lang="zh-CN" sz="960" dirty="0"/>
          </a:p>
        </p:txBody>
      </p:sp>
      <p:sp>
        <p:nvSpPr>
          <p:cNvPr id="41" name="Text 39"/>
          <p:cNvSpPr/>
          <p:nvPr/>
        </p:nvSpPr>
        <p:spPr>
          <a:xfrm>
            <a:off x="9692640" y="2651760"/>
            <a:ext cx="932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96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动转静导出模型，并用 Gradio 搭建问答界面。</a:t>
            </a:r>
            <a:endParaRPr lang="zh-CN" sz="796" dirty="0"/>
          </a:p>
        </p:txBody>
      </p:sp>
      <p:sp>
        <p:nvSpPr>
          <p:cNvPr id="42" name="Shape 40"/>
          <p:cNvSpPr/>
          <p:nvPr/>
        </p:nvSpPr>
        <p:spPr>
          <a:xfrm>
            <a:off x="4078224" y="4041648"/>
            <a:ext cx="3438144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261104" y="4187952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实验设计思路</a:t>
            </a:r>
            <a:endParaRPr lang="zh-CN" sz="1320" dirty="0"/>
          </a:p>
        </p:txBody>
      </p:sp>
      <p:sp>
        <p:nvSpPr>
          <p:cNvPr id="44" name="Text 42"/>
          <p:cNvSpPr/>
          <p:nvPr/>
        </p:nvSpPr>
        <p:spPr>
          <a:xfrm>
            <a:off x="4261104" y="4498848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7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先在五个中文预训练模型上做同参数比较，选择速度和效果兼顾的 ELECTRA 作为策略试验基线；再把筛出来的最优策略迁移到 ERNIE 上验证。</a:t>
            </a:r>
            <a:endParaRPr lang="zh-CN" sz="957" dirty="0"/>
          </a:p>
        </p:txBody>
      </p:sp>
      <p:sp>
        <p:nvSpPr>
          <p:cNvPr id="45" name="Shape 43"/>
          <p:cNvSpPr/>
          <p:nvPr/>
        </p:nvSpPr>
        <p:spPr>
          <a:xfrm>
            <a:off x="7827264" y="4041648"/>
            <a:ext cx="3438144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010144" y="4187952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实验平台与实现</a:t>
            </a:r>
            <a:endParaRPr lang="zh-CN" sz="1320" dirty="0"/>
          </a:p>
        </p:txBody>
      </p:sp>
      <p:sp>
        <p:nvSpPr>
          <p:cNvPr id="47" name="Text 45"/>
          <p:cNvSpPr/>
          <p:nvPr/>
        </p:nvSpPr>
        <p:spPr>
          <a:xfrm>
            <a:off x="8010144" y="4498848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7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训练框架为 PaddlePaddle / PaddleNLP，主要在百度 AI Studio 的 Tesla V100 环境上完成；后续用 paddle.jit 做动转静导出。</a:t>
            </a:r>
            <a:endParaRPr lang="zh-CN" sz="957" dirty="0"/>
          </a:p>
        </p:txBody>
      </p:sp>
      <p:sp>
        <p:nvSpPr>
          <p:cNvPr id="48" name="Shape 46"/>
          <p:cNvSpPr/>
          <p:nvPr/>
        </p:nvSpPr>
        <p:spPr>
          <a:xfrm>
            <a:off x="4078224" y="5650992"/>
            <a:ext cx="7187184" cy="475488"/>
          </a:xfrm>
          <a:prstGeom prst="roundRect">
            <a:avLst>
              <a:gd name="adj" fmla="val 19231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70832" y="5806440"/>
            <a:ext cx="66019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930" dirty="0">
                <a:solidFill>
                  <a:srgbClr val="28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一句话概括：这是一个“先比较模型，再筛训练策略，最后完成部署验证”的完整毕业设计流程。</a:t>
            </a:r>
            <a:endParaRPr lang="zh-CN" sz="930" dirty="0"/>
          </a:p>
        </p:txBody>
      </p:sp>
      <p:sp>
        <p:nvSpPr>
          <p:cNvPr id="50" name="Shape 48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5216" y="6510528"/>
            <a:ext cx="7132320" cy="15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来源：毕业论文 PDF、答辩 PPT、简历中的毕业设计描述</a:t>
            </a:r>
            <a:endParaRPr lang="zh-CN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284B63"/>
          </a:solidFill>
          <a:ln w="12700">
            <a:solidFill>
              <a:srgbClr val="284B6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204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1554480" y="329184"/>
            <a:ext cx="5120640" cy="348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项目二：实验结果与结论</a:t>
            </a:r>
            <a:endParaRPr lang="zh-CN" sz="2050" dirty="0"/>
          </a:p>
        </p:txBody>
      </p:sp>
      <p:sp>
        <p:nvSpPr>
          <p:cNvPr id="5" name="Text 3"/>
          <p:cNvSpPr/>
          <p:nvPr/>
        </p:nvSpPr>
        <p:spPr>
          <a:xfrm>
            <a:off x="1572768" y="859536"/>
            <a:ext cx="81381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8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重点展示模型对比、最优策略、消融结果，以及最终部署落地的结论。</a:t>
            </a:r>
            <a:endParaRPr lang="zh-CN" sz="980" dirty="0"/>
          </a:p>
        </p:txBody>
      </p:sp>
      <p:sp>
        <p:nvSpPr>
          <p:cNvPr id="6" name="Shape 4"/>
          <p:cNvSpPr/>
          <p:nvPr/>
        </p:nvSpPr>
        <p:spPr>
          <a:xfrm>
            <a:off x="566928" y="1216152"/>
            <a:ext cx="1106424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804672" y="1700784"/>
          <a:ext cx="5440680" cy="38039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473952" y="1737360"/>
            <a:ext cx="4572000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56832" y="188366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基线最优策略</a:t>
            </a:r>
            <a:endParaRPr lang="zh-CN" sz="1320" dirty="0"/>
          </a:p>
        </p:txBody>
      </p:sp>
      <p:sp>
        <p:nvSpPr>
          <p:cNvPr id="10" name="Text 7"/>
          <p:cNvSpPr/>
          <p:nvPr/>
        </p:nvSpPr>
        <p:spPr>
          <a:xfrm>
            <a:off x="6656832" y="21945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7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Chinese-ELECTRA-base 上，5% token masking + softmax cross-entropy + FGM + AdamW 取得 F1 87.34、EM 74.45。</a:t>
            </a:r>
            <a:endParaRPr lang="zh-CN" sz="957" dirty="0"/>
          </a:p>
        </p:txBody>
      </p:sp>
      <p:sp>
        <p:nvSpPr>
          <p:cNvPr id="11" name="Shape 8"/>
          <p:cNvSpPr/>
          <p:nvPr/>
        </p:nvSpPr>
        <p:spPr>
          <a:xfrm>
            <a:off x="6473952" y="3090672"/>
            <a:ext cx="457200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56832" y="323697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最终最优模型</a:t>
            </a:r>
            <a:endParaRPr lang="zh-CN" sz="1320" dirty="0"/>
          </a:p>
        </p:txBody>
      </p:sp>
      <p:sp>
        <p:nvSpPr>
          <p:cNvPr id="13" name="Text 10"/>
          <p:cNvSpPr/>
          <p:nvPr/>
        </p:nvSpPr>
        <p:spPr>
          <a:xfrm>
            <a:off x="6656832" y="354787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35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将最优策略迁移到 ERNIE-3.0-xbase-zh 后，最终达到 F1 90.56、EM 78.62；相比同参数 ERNIE 基线 90.05 / 77.27 继续提升。</a:t>
            </a:r>
            <a:endParaRPr lang="zh-CN" sz="935" dirty="0"/>
          </a:p>
        </p:txBody>
      </p:sp>
      <p:sp>
        <p:nvSpPr>
          <p:cNvPr id="14" name="Shape 11"/>
          <p:cNvSpPr/>
          <p:nvPr/>
        </p:nvSpPr>
        <p:spPr>
          <a:xfrm>
            <a:off x="6473952" y="4535424"/>
            <a:ext cx="457200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656832" y="46817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消融结果与认识</a:t>
            </a:r>
            <a:endParaRPr lang="zh-CN" sz="1320" dirty="0"/>
          </a:p>
        </p:txBody>
      </p:sp>
      <p:sp>
        <p:nvSpPr>
          <p:cNvPr id="16" name="Text 13"/>
          <p:cNvSpPr/>
          <p:nvPr/>
        </p:nvSpPr>
        <p:spPr>
          <a:xfrm>
            <a:off x="6656832" y="499262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6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去掉数据掩码后为 90.41 / 78.12，去掉 FGM 后为 90.1 / 78.04，改用 focal loss 降到 88.21 / 74.02。其中 softmax loss 影响最大。</a:t>
            </a:r>
            <a:endParaRPr lang="zh-CN" sz="860" dirty="0"/>
          </a:p>
        </p:txBody>
      </p:sp>
      <p:sp>
        <p:nvSpPr>
          <p:cNvPr id="17" name="Shape 14"/>
          <p:cNvSpPr/>
          <p:nvPr/>
        </p:nvSpPr>
        <p:spPr>
          <a:xfrm>
            <a:off x="804672" y="5742432"/>
            <a:ext cx="10241280" cy="384048"/>
          </a:xfrm>
          <a:prstGeom prst="roundRect">
            <a:avLst>
              <a:gd name="adj" fmla="val 23810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42416" y="5824728"/>
            <a:ext cx="9765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900" dirty="0">
                <a:solidFill>
                  <a:srgbClr val="28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工程落地方面，我还使用 paddle.jit 将动态图模型导出为静态图，并用 Gradio 搭建了可交互的问答演示界面。</a:t>
            </a:r>
            <a:endParaRPr lang="zh-CN" sz="900" dirty="0"/>
          </a:p>
        </p:txBody>
      </p:sp>
      <p:sp>
        <p:nvSpPr>
          <p:cNvPr id="19" name="Shape 16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5216" y="6510528"/>
            <a:ext cx="7132320" cy="15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来源：论文第 4 章实验结果、答辩 PPT 中的结果汇总与部署说明</a:t>
            </a:r>
            <a:endParaRPr lang="zh-CN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284B63"/>
          </a:solidFill>
          <a:ln w="12700">
            <a:solidFill>
              <a:srgbClr val="284B6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204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1554480" y="329184"/>
            <a:ext cx="5120640" cy="348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读研规划与未来展望</a:t>
            </a:r>
            <a:endParaRPr lang="zh-CN" sz="2050" dirty="0"/>
          </a:p>
        </p:txBody>
      </p:sp>
      <p:sp>
        <p:nvSpPr>
          <p:cNvPr id="5" name="Text 3"/>
          <p:cNvSpPr/>
          <p:nvPr/>
        </p:nvSpPr>
        <p:spPr>
          <a:xfrm>
            <a:off x="1572768" y="859536"/>
            <a:ext cx="81381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8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希望在浙江大学软件学院继续把工程实践经验，上升为更系统的科研能力与问题意识。</a:t>
            </a:r>
            <a:endParaRPr lang="zh-CN" sz="980" dirty="0"/>
          </a:p>
        </p:txBody>
      </p:sp>
      <p:sp>
        <p:nvSpPr>
          <p:cNvPr id="6" name="Shape 4"/>
          <p:cNvSpPr/>
          <p:nvPr/>
        </p:nvSpPr>
        <p:spPr>
          <a:xfrm>
            <a:off x="566928" y="1216152"/>
            <a:ext cx="1106424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664208"/>
            <a:ext cx="3913632" cy="4443984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78992" y="1901952"/>
            <a:ext cx="2560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我希望在浙大继续做什么</a:t>
            </a:r>
            <a:endParaRPr lang="zh-CN" sz="1520" dirty="0"/>
          </a:p>
        </p:txBody>
      </p:sp>
      <p:sp>
        <p:nvSpPr>
          <p:cNvPr id="9" name="Text 7"/>
          <p:cNvSpPr/>
          <p:nvPr/>
        </p:nvSpPr>
        <p:spPr>
          <a:xfrm>
            <a:off x="1078992" y="2468880"/>
            <a:ext cx="33101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97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希望在老师指导下，继续围绕自然语言处理、大模型应用、多智能体系统和信息检索等方向深入学习。除了把系统做出来，我也希望进一步学习更规范的实验设计、论文阅读与科研表达。</a:t>
            </a:r>
            <a:endParaRPr lang="zh-CN" sz="997" dirty="0"/>
          </a:p>
        </p:txBody>
      </p:sp>
      <p:sp>
        <p:nvSpPr>
          <p:cNvPr id="10" name="Text 8"/>
          <p:cNvSpPr/>
          <p:nvPr/>
        </p:nvSpPr>
        <p:spPr>
          <a:xfrm>
            <a:off x="1078992" y="37673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6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研究兴趣</a:t>
            </a:r>
            <a:endParaRPr lang="zh-CN" sz="1260" dirty="0"/>
          </a:p>
        </p:txBody>
      </p:sp>
      <p:sp>
        <p:nvSpPr>
          <p:cNvPr id="11" name="Shape 9"/>
          <p:cNvSpPr/>
          <p:nvPr/>
        </p:nvSpPr>
        <p:spPr>
          <a:xfrm>
            <a:off x="1078992" y="409651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16052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7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自然语言处理</a:t>
            </a:r>
            <a:endParaRPr lang="zh-CN" sz="740" dirty="0"/>
          </a:p>
        </p:txBody>
      </p:sp>
      <p:sp>
        <p:nvSpPr>
          <p:cNvPr id="13" name="Shape 11"/>
          <p:cNvSpPr/>
          <p:nvPr/>
        </p:nvSpPr>
        <p:spPr>
          <a:xfrm>
            <a:off x="2651760" y="4096512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4160520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7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大模型应用</a:t>
            </a:r>
            <a:endParaRPr lang="zh-CN" sz="740" dirty="0"/>
          </a:p>
        </p:txBody>
      </p:sp>
      <p:sp>
        <p:nvSpPr>
          <p:cNvPr id="15" name="Shape 13"/>
          <p:cNvSpPr/>
          <p:nvPr/>
        </p:nvSpPr>
        <p:spPr>
          <a:xfrm>
            <a:off x="1078992" y="4535424"/>
            <a:ext cx="1316736" cy="310896"/>
          </a:xfrm>
          <a:prstGeom prst="roundRect">
            <a:avLst>
              <a:gd name="adj" fmla="val 23529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5994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7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多智能体系统</a:t>
            </a:r>
            <a:endParaRPr lang="zh-CN" sz="740" dirty="0"/>
          </a:p>
        </p:txBody>
      </p:sp>
      <p:sp>
        <p:nvSpPr>
          <p:cNvPr id="17" name="Shape 15"/>
          <p:cNvSpPr/>
          <p:nvPr/>
        </p:nvSpPr>
        <p:spPr>
          <a:xfrm>
            <a:off x="2651760" y="4535424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70048" y="459943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7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与评测</a:t>
            </a:r>
            <a:endParaRPr lang="zh-CN" sz="740" dirty="0"/>
          </a:p>
        </p:txBody>
      </p:sp>
      <p:sp>
        <p:nvSpPr>
          <p:cNvPr id="19" name="Shape 17"/>
          <p:cNvSpPr/>
          <p:nvPr/>
        </p:nvSpPr>
        <p:spPr>
          <a:xfrm>
            <a:off x="1078992" y="497433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038344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7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模型微调</a:t>
            </a:r>
            <a:endParaRPr lang="zh-CN" sz="740" dirty="0"/>
          </a:p>
        </p:txBody>
      </p:sp>
      <p:sp>
        <p:nvSpPr>
          <p:cNvPr id="21" name="Shape 19"/>
          <p:cNvSpPr/>
          <p:nvPr/>
        </p:nvSpPr>
        <p:spPr>
          <a:xfrm>
            <a:off x="2651760" y="4974336"/>
            <a:ext cx="1316736" cy="310896"/>
          </a:xfrm>
          <a:prstGeom prst="roundRect">
            <a:avLst>
              <a:gd name="adj" fmla="val 23529"/>
            </a:avLst>
          </a:prstGeom>
          <a:solidFill>
            <a:srgbClr val="EAF1F6"/>
          </a:solidFill>
          <a:ln w="12700">
            <a:solidFill>
              <a:srgbClr val="EAF1F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0048" y="503834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7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可靠智能系统</a:t>
            </a:r>
            <a:endParaRPr lang="zh-CN" sz="740" dirty="0"/>
          </a:p>
        </p:txBody>
      </p:sp>
      <p:sp>
        <p:nvSpPr>
          <p:cNvPr id="23" name="Shape 21"/>
          <p:cNvSpPr/>
          <p:nvPr/>
        </p:nvSpPr>
        <p:spPr>
          <a:xfrm>
            <a:off x="5138928" y="1773936"/>
            <a:ext cx="5961888" cy="932688"/>
          </a:xfrm>
          <a:prstGeom prst="roundRect">
            <a:avLst>
              <a:gd name="adj" fmla="val 11765"/>
            </a:avLst>
          </a:prstGeom>
          <a:solidFill>
            <a:srgbClr val="EAF1F6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21808" y="1920240"/>
            <a:ext cx="5596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阶段一：夯实理论基础</a:t>
            </a:r>
            <a:endParaRPr lang="zh-CN" sz="1320" dirty="0"/>
          </a:p>
        </p:txBody>
      </p:sp>
      <p:sp>
        <p:nvSpPr>
          <p:cNvPr id="25" name="Text 23"/>
          <p:cNvSpPr/>
          <p:nvPr/>
        </p:nvSpPr>
        <p:spPr>
          <a:xfrm>
            <a:off x="5321808" y="2231136"/>
            <a:ext cx="5596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76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系统补强机器学习、深度学习、NLP 和信息检索理论，把现在的工程经验和理论框架对应起来。</a:t>
            </a:r>
            <a:endParaRPr lang="zh-CN" sz="976" dirty="0"/>
          </a:p>
        </p:txBody>
      </p:sp>
      <p:sp>
        <p:nvSpPr>
          <p:cNvPr id="26" name="Shape 24"/>
          <p:cNvSpPr/>
          <p:nvPr/>
        </p:nvSpPr>
        <p:spPr>
          <a:xfrm>
            <a:off x="5138928" y="2999232"/>
            <a:ext cx="5961888" cy="932688"/>
          </a:xfrm>
          <a:prstGeom prst="roundRect">
            <a:avLst>
              <a:gd name="adj" fmla="val 11765"/>
            </a:avLst>
          </a:prstGeom>
          <a:solidFill>
            <a:srgbClr val="EEF3EE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21808" y="3145536"/>
            <a:ext cx="5596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阶段二：提升科研方法</a:t>
            </a:r>
            <a:endParaRPr lang="zh-CN" sz="1320" dirty="0"/>
          </a:p>
        </p:txBody>
      </p:sp>
      <p:sp>
        <p:nvSpPr>
          <p:cNvPr id="28" name="Text 26"/>
          <p:cNvSpPr/>
          <p:nvPr/>
        </p:nvSpPr>
        <p:spPr>
          <a:xfrm>
            <a:off x="5321808" y="3456432"/>
            <a:ext cx="5596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76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更规范地做复现、对比实验、误差分析和论文写作，形成从问题定义到实验结论的完整科研闭环。</a:t>
            </a:r>
            <a:endParaRPr lang="zh-CN" sz="976" dirty="0"/>
          </a:p>
        </p:txBody>
      </p:sp>
      <p:sp>
        <p:nvSpPr>
          <p:cNvPr id="29" name="Shape 27"/>
          <p:cNvSpPr/>
          <p:nvPr/>
        </p:nvSpPr>
        <p:spPr>
          <a:xfrm>
            <a:off x="5138928" y="4224528"/>
            <a:ext cx="5961888" cy="932688"/>
          </a:xfrm>
          <a:prstGeom prst="roundRect">
            <a:avLst>
              <a:gd name="adj" fmla="val 11765"/>
            </a:avLst>
          </a:prstGeom>
          <a:solidFill>
            <a:srgbClr val="F5F1EA"/>
          </a:solidFill>
          <a:ln w="12700">
            <a:solidFill>
              <a:srgbClr val="E4E8EC"/>
            </a:solidFill>
            <a:prstDash val="solid"/>
          </a:ln>
          <a:effectLst>
            <a:outerShdw sx="100000" sy="100000" kx="0" ky="0" algn="bl" rotWithShape="0" blurRad="22860" dist="7620" dir="2700000">
              <a:srgbClr val="A0AFBF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21808" y="4370832"/>
            <a:ext cx="5596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阶段三：继续做能落地的系统</a:t>
            </a:r>
            <a:endParaRPr lang="zh-CN" sz="1320" dirty="0"/>
          </a:p>
        </p:txBody>
      </p:sp>
      <p:sp>
        <p:nvSpPr>
          <p:cNvPr id="31" name="Text 29"/>
          <p:cNvSpPr/>
          <p:nvPr/>
        </p:nvSpPr>
        <p:spPr>
          <a:xfrm>
            <a:off x="5321808" y="4681728"/>
            <a:ext cx="5596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76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把大模型、检索增强和多智能体继续结合，探索更稳定、更可信、也更有研究价值的智能应用系统。</a:t>
            </a:r>
            <a:endParaRPr lang="zh-CN" sz="976" dirty="0"/>
          </a:p>
        </p:txBody>
      </p:sp>
      <p:sp>
        <p:nvSpPr>
          <p:cNvPr id="32" name="Text 30"/>
          <p:cNvSpPr/>
          <p:nvPr/>
        </p:nvSpPr>
        <p:spPr>
          <a:xfrm>
            <a:off x="5230368" y="5705856"/>
            <a:ext cx="5705856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910" dirty="0">
                <a:solidFill>
                  <a:srgbClr val="28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我会继续保持实事求是、持续学习、主动复盘的习惯，努力把自己从“能做项目”提升到“能做研究、能做系统”。</a:t>
            </a:r>
            <a:endParaRPr lang="zh-CN" sz="910" dirty="0"/>
          </a:p>
        </p:txBody>
      </p:sp>
      <p:sp>
        <p:nvSpPr>
          <p:cNvPr id="33" name="Shape 31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" y="6510528"/>
            <a:ext cx="7132320" cy="15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800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文案依据：用户提示、简历内容以及两个项目的实践体会整理</a:t>
            </a:r>
            <a:endParaRPr lang="zh-CN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84B63"/>
          </a:solidFill>
          <a:ln w="12700">
            <a:solidFill>
              <a:srgbClr val="284B6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284B63"/>
          </a:solidFill>
          <a:ln w="12700">
            <a:solidFill>
              <a:srgbClr val="284B6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47872" y="2048256"/>
            <a:ext cx="5029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感谢各位老师聆听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4023360" y="2816352"/>
            <a:ext cx="4059936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40" b="1" dirty="0">
                <a:solidFill>
                  <a:srgbClr val="28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恳请老师批评指正</a:t>
            </a:r>
            <a:endParaRPr lang="zh-CN" sz="1540" dirty="0"/>
          </a:p>
        </p:txBody>
      </p:sp>
      <p:sp>
        <p:nvSpPr>
          <p:cNvPr id="6" name="Text 4"/>
          <p:cNvSpPr/>
          <p:nvPr/>
        </p:nvSpPr>
        <p:spPr>
          <a:xfrm>
            <a:off x="1993392" y="3822192"/>
            <a:ext cx="8211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40" dirty="0">
                <a:solidFill>
                  <a:srgbClr val="5F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李树岩 | 燕山大学 软件工程 | 浙江大学软件学院研究生复试</a:t>
            </a:r>
            <a:endParaRPr lang="zh-CN" sz="1140" dirty="0"/>
          </a:p>
        </p:txBody>
      </p:sp>
      <p:sp>
        <p:nvSpPr>
          <p:cNvPr id="7" name="Text 5"/>
          <p:cNvSpPr/>
          <p:nvPr/>
        </p:nvSpPr>
        <p:spPr>
          <a:xfrm>
            <a:off x="4626864" y="4718304"/>
            <a:ext cx="29626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8A96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zh-C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OpenAgents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 Shuyan ZJU Retest Presentation</dc:title>
  <dc:subject>Graduate retest presentation</dc:subject>
  <dc:creator>Codex</dc:creator>
  <cp:lastModifiedBy>Codex</cp:lastModifiedBy>
  <cp:revision>1</cp:revision>
  <dcterms:created xsi:type="dcterms:W3CDTF">2026-03-18T07:10:04Z</dcterms:created>
  <dcterms:modified xsi:type="dcterms:W3CDTF">2026-03-18T07:10:04Z</dcterms:modified>
</cp:coreProperties>
</file>